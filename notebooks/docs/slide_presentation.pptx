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Muli" charset="1" panose="00000500000000000000"/>
      <p:regular r:id="rId43"/>
    </p:embeddedFont>
    <p:embeddedFont>
      <p:font typeface="Muli Bold" charset="1" panose="00000800000000000000"/>
      <p:regular r:id="rId44"/>
    </p:embeddedFont>
    <p:embeddedFont>
      <p:font typeface="Helios" charset="1" panose="020B0504020202020204"/>
      <p:regular r:id="rId45"/>
    </p:embeddedFont>
    <p:embeddedFont>
      <p:font typeface="Montserrat Bold" charset="1" panose="00000800000000000000"/>
      <p:regular r:id="rId46"/>
    </p:embeddedFont>
    <p:embeddedFont>
      <p:font typeface="Montserrat" charset="1" panose="00000500000000000000"/>
      <p:regular r:id="rId47"/>
    </p:embeddedFont>
    <p:embeddedFont>
      <p:font typeface="Arimo Bold" charset="1" panose="020B0704020202020204"/>
      <p:regular r:id="rId52"/>
    </p:embeddedFont>
    <p:embeddedFont>
      <p:font typeface="Inter Bold" charset="1" panose="02000503000000020004"/>
      <p:regular r:id="rId53"/>
    </p:embeddedFont>
    <p:embeddedFont>
      <p:font typeface="Inter" charset="1" panose="02000503000000020004"/>
      <p:regular r:id="rId54"/>
    </p:embeddedFont>
    <p:embeddedFont>
      <p:font typeface="Lato Bold" charset="1" panose="020F0502020204030203"/>
      <p:regular r:id="rId59"/>
    </p:embeddedFont>
    <p:embeddedFont>
      <p:font typeface="Poppins Bold" charset="1" panose="00000800000000000000"/>
      <p:regular r:id="rId60"/>
    </p:embeddedFont>
    <p:embeddedFont>
      <p:font typeface="Lato" charset="1" panose="020F0502020204030203"/>
      <p:regular r:id="rId61"/>
    </p:embeddedFont>
    <p:embeddedFont>
      <p:font typeface="Inter Italics" charset="1" panose="02000503000000020004"/>
      <p:regular r:id="rId63"/>
    </p:embeddedFont>
    <p:embeddedFont>
      <p:font typeface="Inter Bold Italics" charset="1" panose="02000503000000020004"/>
      <p:regular r:id="rId64"/>
    </p:embeddedFont>
    <p:embeddedFont>
      <p:font typeface="Clear Sans" charset="1" panose="020B0503030202020304"/>
      <p:regular r:id="rId6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notesMasters/notesMaster1.xml" Type="http://schemas.openxmlformats.org/officeDocument/2006/relationships/notesMaster"/><Relationship Id="rId49" Target="theme/theme2.xml" Type="http://schemas.openxmlformats.org/officeDocument/2006/relationships/theme"/><Relationship Id="rId5" Target="tableStyles.xml" Type="http://schemas.openxmlformats.org/officeDocument/2006/relationships/tableStyles"/><Relationship Id="rId50" Target="notesSlides/notesSlide1.xml" Type="http://schemas.openxmlformats.org/officeDocument/2006/relationships/notesSlide"/><Relationship Id="rId51" Target="notesSlides/notesSlide2.xml" Type="http://schemas.openxmlformats.org/officeDocument/2006/relationships/notesSlide"/><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notesSlides/notesSlide3.xml" Type="http://schemas.openxmlformats.org/officeDocument/2006/relationships/notesSlide"/><Relationship Id="rId56" Target="notesSlides/notesSlide4.xml" Type="http://schemas.openxmlformats.org/officeDocument/2006/relationships/notesSlide"/><Relationship Id="rId57" Target="notesSlides/notesSlide5.xml" Type="http://schemas.openxmlformats.org/officeDocument/2006/relationships/notesSlide"/><Relationship Id="rId58" Target="notesSlides/notesSlide6.xml" Type="http://schemas.openxmlformats.org/officeDocument/2006/relationships/notesSlide"/><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notesSlides/notesSlide7.xml" Type="http://schemas.openxmlformats.org/officeDocument/2006/relationships/notesSlide"/><Relationship Id="rId63" Target="fonts/font63.fntdata" Type="http://schemas.openxmlformats.org/officeDocument/2006/relationships/font"/><Relationship Id="rId64" Target="fonts/font64.fntdata" Type="http://schemas.openxmlformats.org/officeDocument/2006/relationships/font"/><Relationship Id="rId65" Target="notesSlides/notesSlide8.xml" Type="http://schemas.openxmlformats.org/officeDocument/2006/relationships/notesSlide"/><Relationship Id="rId66" Target="notesSlides/notesSlide9.xml" Type="http://schemas.openxmlformats.org/officeDocument/2006/relationships/notesSlide"/><Relationship Id="rId67" Target="fonts/font67.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khi đã thực hiện phân tích khám phá (EDA) và hiểu được bản chất của dữ liệu KKBOX, chúng tôi bước vào giai đoạn quan trọng nhất: Tiền xử lý. Quý vị có thể thấy trên sơ đồ, quy trình của nhóm được thiết lập như một dây chuyền sản xuất khép kín gồm 4 bước: từ làm sạch dữ liệu thô, chuẩn hóa định dạng, trích xuất đặc trưng cho đến bước cuối cùng là tổng hợp tất cả về đơn vị khách hàng (msno). Mục tiêu duy nhất là biến hàng triệu dòng nhật ký rời rạc thành một bức chân dung khách hàng toàn diện để mô hình có thể 'đọc' được."</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khi đã thực hiện phân tích khám phá (EDA) và hiểu được bản chất của dữ liệu KKBOX, chúng tôi bước vào giai đoạn quan trọng nhất: Tiền xử lý. Quý vị có thể thấy trên sơ đồ, quy trình của nhóm được thiết lập như một dây chuyền sản xuất khép kín gồm 4 bước: từ làm sạch dữ liệu thô, chuẩn hóa định dạng, trích xuất đặc trưng cho đến bước cuối cùng là tổng hợp tất cả về đơn vị khách hàng (msno). Mục tiêu duy nhất là biến hàng triệu dòng nhật ký rời rạc thành một bức chân dung khách hàng toàn diện để mô hình có thể 'đọc' được."</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"Nói về bước đầu tiên là làm sạch, chúng tôi đối mặt với những dữ liệu cực kỳ 'nhiễu'. Điển hình là cột Giới tính với hơn 50% giá trị trống. Thay vì chọn giải pháp an toàn là xóa bỏ—điều này sẽ làm mất đi hành vi nghe nhạc của một nửa khách hàng—nhóm đã quyết định giữ NaN như một danh mục riêng. Tương tự với biến Tuổi, chúng tôi phát hiện nhiều giá trị phi thực tế như tuổi âm hoặc trên 100. Nhóm đã áp dụng bộ lọc đưa về giá trị -1. Việc dùng -1 không chỉ là để lấp chỗ trống, mà còn là một tín hiệu cho mô hình biết đây là nhóm người dùng 'ẩn danh', vốn thường có tỷ lệ rời bỏ khác biệt so với nhóm khai báo rõ ràng."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khi đã có bộ dữ liệu sạch, câu hỏi đặt ra là: Chúng ta cần dạy mô hình nhìn vào đâu? Nhóm đã tập trung vào 3 trụ cột hành vi. Thứ nhất là tính năng Tự động gia hạn (Auto-Renew)—đây là 'mỏ neo' giữ chân khách hàng mạnh nhất với hơn 80% người dùng sử dụng. Thứ hai là mẫu thanh toán, đặc biệt là ID 41, cho thấy sự gắn bó ổn định. Và cuối cùng là nhật ký nghe nhạc. Chúng tôi không chỉ nhìn vào việc họ nghe bao nhiêu, mà nhìn vào 'Engagement Decay'—tức là sự suy giảm tương tác. Đây chính là dấu hiệu báo trước một khách hàng đang 'nguội lạnh' với dịch vụ."</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"Tuy nhiên, hành vi của con người luôn thay đổi theo thời gian, vậy làm sao để mô hình bắt kịp sự thay đổi đó? Nhóm đã giải quyết bằng kỹ thuật Multi-window Aggregation. Thay vì chỉ nhìn vào dữ liệu tổng thể, chúng tôi chia nhỏ thành các cửa sổ: Trọn đời, 30 ngày và 15 ngày gần nhất. Điểm đặc biệt ở đây chính là các 'Biến Delta'—sự chênh lệch giữa 15 ngày và 30 ngày. Nếu Delta âm và lớn, mô hình sẽ hiểu ngay rằng khách hàng này đang có xu hướng rời bỏ rất rõ rệt. Toàn bộ các đặc trưng động này được nén lại thành một dòng duy nhất cho mỗi khách hàng, sẵn sàng cho bước huấn luyện tiếp theo."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"Tuy nhiên, hành vi của con người luôn thay đổi theo thời gian, vậy làm sao để mô hình bắt kịp sự thay đổi đó? Nhóm đã giải quyết bằng kỹ thuật Multi-window Aggregation. Thay vì chỉ nhìn vào dữ liệu tổng thể, chúng tôi chia nhỏ thành các cửa sổ: Trọn đời, 30 ngày và 15 ngày gần nhất. Điểm đặc biệt ở đây chính là các 'Biến Delta'—sự chênh lệch giữa 15 ngày và 30 ngày. Nếu Delta âm và lớn, mô hình sẽ hiểu ngay rằng khách hàng này đang có xu hướng rời bỏ rất rõ rệt. Toàn bộ các đặc trưng động này được nén lại thành một dòng duy nhất cho mỗi khách hàng, sẵn sàng cho bước huấn luyện tiếp theo."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"Bước sang phần huấn luyện, sai lầm dễ mắc phải nhất là chia dữ liệu ngẫu nhiên. Với dữ liệu chuỗi thời gian như KKBOX, chúng tôi bắt buộc phải chia theo trục thời gian (Temporal Split). Chúng tôi dùng dữ liệu tháng 2 để huấn luyện, tháng 3 để kiểm chứng (Validation) và tháng 4 để đánh giá cuối cùng. Cách làm này đảm bảo mô hình đang thực sự 'dự báo tương lai' chứ không phải 'học thuộc lòng quá khứ'."</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"Với tệp dữ liệu khổng lồ và chiến lược chia chặt chẽ như vậy, chúng tôi cần một 'cỗ máy' đủ mạnh, và đó chính là LightGBM. Lý do chúng tôi chọn LightGBM thay vì các thuật toán khác là nhờ tốc độ và khả năng xử lý mất cân bằng nhãn tuyệt vời. Như quý vị đã biết, chỉ có khoảng 8-10% khách hàng thực sự rời bỏ. Nếu không có tham số scale_pos_weight để tăng trọng số cho nhóm thiểu số này, mô hình sẽ dễ dàng bỏ qua những khách hàng 'churn' thực sự. LightGBM giúp chúng tôi cân bằng giữa việc dự báo đúng người ở lại và không bỏ sót người ra đi."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"Cuối cùng, với thuật toán LightGBM, nhóm đã tận dụng tham số scale_pos_weight để đặc biệt chú ý đến nhóm 8.5% khách hàng rời bỏ (nhóm thiểu số).</a:t>
            </a:r>
          </a:p>
          <a:p>
            <a:r>
              <a:rPr lang="en-US"/>
              <a:t>Kết quả cuối cùng đạt mức Log Loss 0.122. So với các mô hình như Random Forest hay Decision Tree (thường bị quá khớp và có Log Loss cao hơn), LightGBM kết hợp với các biến Delta đã chứng minh được sự vượt trội. Chỉ số 0.122 này cho thấy mô hình dự báo rất sát với thực tế, cung cấp một công cụ đắc lực cho KKBOX trong việc phân loại và giữ chân khách hàng kịp thời."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151761">
            <a:off x="10912533" y="-4157532"/>
            <a:ext cx="10454404" cy="7622211"/>
          </a:xfrm>
          <a:custGeom>
            <a:avLst/>
            <a:gdLst/>
            <a:ahLst/>
            <a:cxnLst/>
            <a:rect r="r" b="b" t="t" l="l"/>
            <a:pathLst>
              <a:path h="7622211" w="10454404">
                <a:moveTo>
                  <a:pt x="0" y="0"/>
                </a:moveTo>
                <a:lnTo>
                  <a:pt x="10454404" y="0"/>
                </a:lnTo>
                <a:lnTo>
                  <a:pt x="10454404" y="7622212"/>
                </a:lnTo>
                <a:lnTo>
                  <a:pt x="0" y="7622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4939101" y="6712177"/>
            <a:ext cx="11422613" cy="8328123"/>
          </a:xfrm>
          <a:custGeom>
            <a:avLst/>
            <a:gdLst/>
            <a:ahLst/>
            <a:cxnLst/>
            <a:rect r="r" b="b" t="t" l="l"/>
            <a:pathLst>
              <a:path h="8328123" w="11422613">
                <a:moveTo>
                  <a:pt x="0" y="0"/>
                </a:moveTo>
                <a:lnTo>
                  <a:pt x="11422613" y="0"/>
                </a:lnTo>
                <a:lnTo>
                  <a:pt x="11422613" y="8328123"/>
                </a:lnTo>
                <a:lnTo>
                  <a:pt x="0" y="83281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985437" y="3363495"/>
            <a:ext cx="12317127" cy="3560011"/>
            <a:chOff x="0" y="0"/>
            <a:chExt cx="16422836" cy="4746681"/>
          </a:xfrm>
        </p:grpSpPr>
        <p:sp>
          <p:nvSpPr>
            <p:cNvPr name="TextBox 5" id="5"/>
            <p:cNvSpPr txBox="true"/>
            <p:nvPr/>
          </p:nvSpPr>
          <p:spPr>
            <a:xfrm rot="0">
              <a:off x="0" y="3910175"/>
              <a:ext cx="16422836" cy="836507"/>
            </a:xfrm>
            <a:prstGeom prst="rect">
              <a:avLst/>
            </a:prstGeom>
          </p:spPr>
          <p:txBody>
            <a:bodyPr anchor="t" rtlCol="false" tIns="0" lIns="0" bIns="0" rIns="0">
              <a:spAutoFit/>
            </a:bodyPr>
            <a:lstStyle/>
            <a:p>
              <a:pPr algn="ctr">
                <a:lnSpc>
                  <a:spcPts val="5320"/>
                </a:lnSpc>
              </a:pPr>
              <a:r>
                <a:rPr lang="en-US" sz="3800">
                  <a:solidFill>
                    <a:srgbClr val="000000"/>
                  </a:solidFill>
                  <a:latin typeface="Muli"/>
                  <a:ea typeface="Muli"/>
                  <a:cs typeface="Muli"/>
                  <a:sym typeface="Muli"/>
                </a:rPr>
                <a:t>Vũ Tuấn Phúc</a:t>
              </a:r>
            </a:p>
          </p:txBody>
        </p:sp>
        <p:sp>
          <p:nvSpPr>
            <p:cNvPr name="TextBox 6" id="6"/>
            <p:cNvSpPr txBox="true"/>
            <p:nvPr/>
          </p:nvSpPr>
          <p:spPr>
            <a:xfrm rot="0">
              <a:off x="0" y="171450"/>
              <a:ext cx="16422836" cy="3181421"/>
            </a:xfrm>
            <a:prstGeom prst="rect">
              <a:avLst/>
            </a:prstGeom>
          </p:spPr>
          <p:txBody>
            <a:bodyPr anchor="t" rtlCol="false" tIns="0" lIns="0" bIns="0" rIns="0">
              <a:spAutoFit/>
            </a:bodyPr>
            <a:lstStyle/>
            <a:p>
              <a:pPr algn="ctr">
                <a:lnSpc>
                  <a:spcPts val="9002"/>
                </a:lnSpc>
              </a:pPr>
              <a:r>
                <a:rPr lang="en-US" sz="9002" spc="-297">
                  <a:solidFill>
                    <a:srgbClr val="000000"/>
                  </a:solidFill>
                  <a:latin typeface="Muli"/>
                  <a:ea typeface="Muli"/>
                  <a:cs typeface="Muli"/>
                  <a:sym typeface="Muli"/>
                </a:rPr>
                <a:t>WSDM KKBOX's Churn Prediction Challenge</a:t>
              </a:r>
            </a:p>
          </p:txBody>
        </p:sp>
      </p:grpSp>
      <p:sp>
        <p:nvSpPr>
          <p:cNvPr name="TextBox 7" id="7"/>
          <p:cNvSpPr txBox="true"/>
          <p:nvPr/>
        </p:nvSpPr>
        <p:spPr>
          <a:xfrm rot="0">
            <a:off x="2985437" y="6847305"/>
            <a:ext cx="12317127" cy="646430"/>
          </a:xfrm>
          <a:prstGeom prst="rect">
            <a:avLst/>
          </a:prstGeom>
        </p:spPr>
        <p:txBody>
          <a:bodyPr anchor="t" rtlCol="false" tIns="0" lIns="0" bIns="0" rIns="0">
            <a:spAutoFit/>
          </a:bodyPr>
          <a:lstStyle/>
          <a:p>
            <a:pPr algn="ctr">
              <a:lnSpc>
                <a:spcPts val="5320"/>
              </a:lnSpc>
            </a:pPr>
            <a:r>
              <a:rPr lang="en-US" sz="3800">
                <a:solidFill>
                  <a:srgbClr val="000000"/>
                </a:solidFill>
                <a:latin typeface="Muli"/>
                <a:ea typeface="Muli"/>
                <a:cs typeface="Muli"/>
                <a:sym typeface="Muli"/>
              </a:rPr>
              <a:t>Trần Đại Dương</a:t>
            </a:r>
          </a:p>
        </p:txBody>
      </p:sp>
      <p:sp>
        <p:nvSpPr>
          <p:cNvPr name="TextBox 8" id="8"/>
          <p:cNvSpPr txBox="true"/>
          <p:nvPr/>
        </p:nvSpPr>
        <p:spPr>
          <a:xfrm rot="0">
            <a:off x="2985437" y="7417535"/>
            <a:ext cx="12317127" cy="646430"/>
          </a:xfrm>
          <a:prstGeom prst="rect">
            <a:avLst/>
          </a:prstGeom>
        </p:spPr>
        <p:txBody>
          <a:bodyPr anchor="t" rtlCol="false" tIns="0" lIns="0" bIns="0" rIns="0">
            <a:spAutoFit/>
          </a:bodyPr>
          <a:lstStyle/>
          <a:p>
            <a:pPr algn="ctr">
              <a:lnSpc>
                <a:spcPts val="5320"/>
              </a:lnSpc>
            </a:pPr>
            <a:r>
              <a:rPr lang="en-US" sz="3800">
                <a:solidFill>
                  <a:srgbClr val="000000"/>
                </a:solidFill>
                <a:latin typeface="Muli"/>
                <a:ea typeface="Muli"/>
                <a:cs typeface="Muli"/>
                <a:sym typeface="Muli"/>
              </a:rPr>
              <a:t>Trần Hoàng Minh Tiến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rot="0">
            <a:off x="0" y="10104444"/>
            <a:ext cx="18288000" cy="182556"/>
          </a:xfrm>
          <a:prstGeom prst="rect">
            <a:avLst/>
          </a:prstGeom>
          <a:solidFill>
            <a:srgbClr val="F24300"/>
          </a:solidFill>
        </p:spPr>
      </p:sp>
      <p:sp>
        <p:nvSpPr>
          <p:cNvPr name="TextBox 3" id="3"/>
          <p:cNvSpPr txBox="true"/>
          <p:nvPr/>
        </p:nvSpPr>
        <p:spPr>
          <a:xfrm rot="0">
            <a:off x="1028700" y="3742309"/>
            <a:ext cx="7827606" cy="806450"/>
          </a:xfrm>
          <a:prstGeom prst="rect">
            <a:avLst/>
          </a:prstGeom>
        </p:spPr>
        <p:txBody>
          <a:bodyPr anchor="t" rtlCol="false" tIns="0" lIns="0" bIns="0" rIns="0">
            <a:spAutoFit/>
          </a:bodyPr>
          <a:lstStyle/>
          <a:p>
            <a:pPr algn="l" marL="539751" indent="-269876" lvl="1">
              <a:lnSpc>
                <a:spcPts val="3250"/>
              </a:lnSpc>
              <a:buFont typeface="Arial"/>
              <a:buChar char="•"/>
            </a:pPr>
            <a:r>
              <a:rPr lang="en-US" sz="2500">
                <a:solidFill>
                  <a:srgbClr val="000000"/>
                </a:solidFill>
                <a:latin typeface="Muli"/>
                <a:ea typeface="Muli"/>
                <a:cs typeface="Muli"/>
                <a:sym typeface="Muli"/>
              </a:rPr>
              <a:t>Introduce the Problem</a:t>
            </a:r>
          </a:p>
          <a:p>
            <a:pPr algn="l">
              <a:lnSpc>
                <a:spcPts val="3250"/>
              </a:lnSpc>
            </a:pPr>
          </a:p>
        </p:txBody>
      </p:sp>
      <p:sp>
        <p:nvSpPr>
          <p:cNvPr name="TextBox 4" id="4"/>
          <p:cNvSpPr txBox="true"/>
          <p:nvPr/>
        </p:nvSpPr>
        <p:spPr>
          <a:xfrm rot="0">
            <a:off x="1028700" y="4501657"/>
            <a:ext cx="7827606" cy="806450"/>
          </a:xfrm>
          <a:prstGeom prst="rect">
            <a:avLst/>
          </a:prstGeom>
        </p:spPr>
        <p:txBody>
          <a:bodyPr anchor="t" rtlCol="false" tIns="0" lIns="0" bIns="0" rIns="0">
            <a:spAutoFit/>
          </a:bodyPr>
          <a:lstStyle/>
          <a:p>
            <a:pPr algn="l" marL="539751" indent="-269876" lvl="1">
              <a:lnSpc>
                <a:spcPts val="3250"/>
              </a:lnSpc>
              <a:buFont typeface="Arial"/>
              <a:buChar char="•"/>
            </a:pPr>
            <a:r>
              <a:rPr lang="en-US" sz="2500">
                <a:solidFill>
                  <a:srgbClr val="000000"/>
                </a:solidFill>
                <a:latin typeface="Muli"/>
                <a:ea typeface="Muli"/>
                <a:cs typeface="Muli"/>
                <a:sym typeface="Muli"/>
              </a:rPr>
              <a:t>Data Overview</a:t>
            </a:r>
          </a:p>
          <a:p>
            <a:pPr algn="l">
              <a:lnSpc>
                <a:spcPts val="3250"/>
              </a:lnSpc>
            </a:pPr>
          </a:p>
        </p:txBody>
      </p:sp>
      <p:sp>
        <p:nvSpPr>
          <p:cNvPr name="TextBox 5" id="5"/>
          <p:cNvSpPr txBox="true"/>
          <p:nvPr/>
        </p:nvSpPr>
        <p:spPr>
          <a:xfrm rot="0">
            <a:off x="1028700" y="5261005"/>
            <a:ext cx="7827606" cy="396875"/>
          </a:xfrm>
          <a:prstGeom prst="rect">
            <a:avLst/>
          </a:prstGeom>
        </p:spPr>
        <p:txBody>
          <a:bodyPr anchor="t" rtlCol="false" tIns="0" lIns="0" bIns="0" rIns="0">
            <a:spAutoFit/>
          </a:bodyPr>
          <a:lstStyle/>
          <a:p>
            <a:pPr algn="l" marL="539751" indent="-269876" lvl="1">
              <a:lnSpc>
                <a:spcPts val="3250"/>
              </a:lnSpc>
              <a:buFont typeface="Arial"/>
              <a:buChar char="•"/>
            </a:pPr>
            <a:r>
              <a:rPr lang="en-US" sz="2500">
                <a:solidFill>
                  <a:srgbClr val="000000"/>
                </a:solidFill>
                <a:latin typeface="Muli"/>
                <a:ea typeface="Muli"/>
                <a:cs typeface="Muli"/>
                <a:sym typeface="Muli"/>
              </a:rPr>
              <a:t>Exploratory Data Analysis</a:t>
            </a:r>
          </a:p>
        </p:txBody>
      </p:sp>
      <p:sp>
        <p:nvSpPr>
          <p:cNvPr name="TextBox 6" id="6"/>
          <p:cNvSpPr txBox="true"/>
          <p:nvPr/>
        </p:nvSpPr>
        <p:spPr>
          <a:xfrm rot="0">
            <a:off x="1028700" y="6020353"/>
            <a:ext cx="7827606" cy="806450"/>
          </a:xfrm>
          <a:prstGeom prst="rect">
            <a:avLst/>
          </a:prstGeom>
        </p:spPr>
        <p:txBody>
          <a:bodyPr anchor="t" rtlCol="false" tIns="0" lIns="0" bIns="0" rIns="0">
            <a:spAutoFit/>
          </a:bodyPr>
          <a:lstStyle/>
          <a:p>
            <a:pPr algn="l" marL="539751" indent="-269876" lvl="1">
              <a:lnSpc>
                <a:spcPts val="3250"/>
              </a:lnSpc>
              <a:buFont typeface="Arial"/>
              <a:buChar char="•"/>
            </a:pPr>
            <a:r>
              <a:rPr lang="en-US" sz="2500">
                <a:solidFill>
                  <a:srgbClr val="000000"/>
                </a:solidFill>
                <a:latin typeface="Muli"/>
                <a:ea typeface="Muli"/>
                <a:cs typeface="Muli"/>
                <a:sym typeface="Muli"/>
              </a:rPr>
              <a:t>Preprocessing</a:t>
            </a:r>
          </a:p>
          <a:p>
            <a:pPr algn="l">
              <a:lnSpc>
                <a:spcPts val="3250"/>
              </a:lnSpc>
            </a:pPr>
          </a:p>
        </p:txBody>
      </p:sp>
      <p:sp>
        <p:nvSpPr>
          <p:cNvPr name="TextBox 7" id="7"/>
          <p:cNvSpPr txBox="true"/>
          <p:nvPr/>
        </p:nvSpPr>
        <p:spPr>
          <a:xfrm rot="0">
            <a:off x="1028700" y="7539049"/>
            <a:ext cx="7827606" cy="396875"/>
          </a:xfrm>
          <a:prstGeom prst="rect">
            <a:avLst/>
          </a:prstGeom>
        </p:spPr>
        <p:txBody>
          <a:bodyPr anchor="t" rtlCol="false" tIns="0" lIns="0" bIns="0" rIns="0">
            <a:spAutoFit/>
          </a:bodyPr>
          <a:lstStyle/>
          <a:p>
            <a:pPr algn="l" marL="539751" indent="-269876" lvl="1">
              <a:lnSpc>
                <a:spcPts val="3250"/>
              </a:lnSpc>
              <a:buFont typeface="Arial"/>
              <a:buChar char="•"/>
            </a:pPr>
            <a:r>
              <a:rPr lang="en-US" sz="2500">
                <a:solidFill>
                  <a:srgbClr val="000000"/>
                </a:solidFill>
                <a:latin typeface="Muli"/>
                <a:ea typeface="Muli"/>
                <a:cs typeface="Muli"/>
                <a:sym typeface="Muli"/>
              </a:rPr>
              <a:t>Evaluation and Conclusion</a:t>
            </a:r>
          </a:p>
        </p:txBody>
      </p:sp>
      <p:sp>
        <p:nvSpPr>
          <p:cNvPr name="TextBox 8" id="8"/>
          <p:cNvSpPr txBox="true"/>
          <p:nvPr/>
        </p:nvSpPr>
        <p:spPr>
          <a:xfrm rot="0">
            <a:off x="1028700" y="6779701"/>
            <a:ext cx="7827606" cy="396875"/>
          </a:xfrm>
          <a:prstGeom prst="rect">
            <a:avLst/>
          </a:prstGeom>
        </p:spPr>
        <p:txBody>
          <a:bodyPr anchor="t" rtlCol="false" tIns="0" lIns="0" bIns="0" rIns="0">
            <a:spAutoFit/>
          </a:bodyPr>
          <a:lstStyle/>
          <a:p>
            <a:pPr algn="l" marL="539751" indent="-269876" lvl="1">
              <a:lnSpc>
                <a:spcPts val="3250"/>
              </a:lnSpc>
              <a:buFont typeface="Arial"/>
              <a:buChar char="•"/>
            </a:pPr>
            <a:r>
              <a:rPr lang="en-US" sz="2500">
                <a:solidFill>
                  <a:srgbClr val="000000"/>
                </a:solidFill>
                <a:latin typeface="Muli"/>
                <a:ea typeface="Muli"/>
                <a:cs typeface="Muli"/>
                <a:sym typeface="Muli"/>
              </a:rPr>
              <a:t>Model training</a:t>
            </a:r>
          </a:p>
        </p:txBody>
      </p:sp>
      <p:sp>
        <p:nvSpPr>
          <p:cNvPr name="TextBox 9" id="9"/>
          <p:cNvSpPr txBox="true"/>
          <p:nvPr/>
        </p:nvSpPr>
        <p:spPr>
          <a:xfrm rot="0">
            <a:off x="9601385" y="1000084"/>
            <a:ext cx="7657915" cy="857250"/>
          </a:xfrm>
          <a:prstGeom prst="rect">
            <a:avLst/>
          </a:prstGeom>
        </p:spPr>
        <p:txBody>
          <a:bodyPr anchor="t" rtlCol="false" tIns="0" lIns="0" bIns="0" rIns="0">
            <a:spAutoFit/>
          </a:bodyPr>
          <a:lstStyle/>
          <a:p>
            <a:pPr algn="r" marL="0" indent="0" lvl="0">
              <a:lnSpc>
                <a:spcPts val="6720"/>
              </a:lnSpc>
              <a:spcBef>
                <a:spcPct val="0"/>
              </a:spcBef>
            </a:pPr>
            <a:r>
              <a:rPr lang="en-US" b="true" sz="5600" spc="-84">
                <a:solidFill>
                  <a:srgbClr val="000000"/>
                </a:solidFill>
                <a:latin typeface="Muli Bold"/>
                <a:ea typeface="Muli Bold"/>
                <a:cs typeface="Muli Bold"/>
                <a:sym typeface="Muli Bold"/>
              </a:rPr>
              <a:t>Outline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7962901" cy="10287000"/>
          </a:xfrm>
          <a:prstGeom prst="rect">
            <a:avLst/>
          </a:prstGeom>
          <a:solidFill>
            <a:srgbClr val="F4F4F4"/>
          </a:solidFill>
        </p:spPr>
      </p:sp>
      <p:sp>
        <p:nvSpPr>
          <p:cNvPr name="TextBox 3" id="3"/>
          <p:cNvSpPr txBox="true"/>
          <p:nvPr/>
        </p:nvSpPr>
        <p:spPr>
          <a:xfrm rot="0">
            <a:off x="833385" y="4263965"/>
            <a:ext cx="5116777" cy="36671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000000"/>
                </a:solidFill>
                <a:latin typeface="Muli Bold"/>
                <a:ea typeface="Muli Bold"/>
                <a:cs typeface="Muli Bold"/>
                <a:sym typeface="Muli Bold"/>
              </a:rPr>
              <a:t>Introduce the Problem</a:t>
            </a:r>
          </a:p>
        </p:txBody>
      </p:sp>
      <p:sp>
        <p:nvSpPr>
          <p:cNvPr name="TextBox 4" id="4"/>
          <p:cNvSpPr txBox="true"/>
          <p:nvPr/>
        </p:nvSpPr>
        <p:spPr>
          <a:xfrm rot="0">
            <a:off x="833385" y="8301193"/>
            <a:ext cx="6670817" cy="538270"/>
          </a:xfrm>
          <a:prstGeom prst="rect">
            <a:avLst/>
          </a:prstGeom>
        </p:spPr>
        <p:txBody>
          <a:bodyPr anchor="t" rtlCol="false" tIns="0" lIns="0" bIns="0" rIns="0">
            <a:spAutoFit/>
          </a:bodyPr>
          <a:lstStyle/>
          <a:p>
            <a:pPr algn="l">
              <a:lnSpc>
                <a:spcPts val="4376"/>
              </a:lnSpc>
            </a:pPr>
            <a:r>
              <a:rPr lang="en-US" sz="3366">
                <a:solidFill>
                  <a:srgbClr val="000000"/>
                </a:solidFill>
                <a:latin typeface="Muli"/>
                <a:ea typeface="Muli"/>
                <a:cs typeface="Muli"/>
                <a:sym typeface="Muli"/>
              </a:rPr>
              <a:t>Introduction to business problem</a:t>
            </a:r>
          </a:p>
        </p:txBody>
      </p:sp>
      <p:grpSp>
        <p:nvGrpSpPr>
          <p:cNvPr name="Group 5" id="5"/>
          <p:cNvGrpSpPr/>
          <p:nvPr/>
        </p:nvGrpSpPr>
        <p:grpSpPr>
          <a:xfrm rot="0">
            <a:off x="8433477" y="6054714"/>
            <a:ext cx="9185859" cy="1713865"/>
            <a:chOff x="0" y="0"/>
            <a:chExt cx="12247811" cy="2285154"/>
          </a:xfrm>
        </p:grpSpPr>
        <p:sp>
          <p:nvSpPr>
            <p:cNvPr name="TextBox 6" id="6"/>
            <p:cNvSpPr txBox="true"/>
            <p:nvPr/>
          </p:nvSpPr>
          <p:spPr>
            <a:xfrm rot="0">
              <a:off x="1452901" y="-76200"/>
              <a:ext cx="10794911" cy="2361354"/>
            </a:xfrm>
            <a:prstGeom prst="rect">
              <a:avLst/>
            </a:prstGeom>
          </p:spPr>
          <p:txBody>
            <a:bodyPr anchor="t" rtlCol="false" tIns="0" lIns="0" bIns="0" rIns="0">
              <a:spAutoFit/>
            </a:bodyPr>
            <a:lstStyle/>
            <a:p>
              <a:pPr algn="l">
                <a:lnSpc>
                  <a:spcPts val="4759"/>
                </a:lnSpc>
              </a:pPr>
              <a:r>
                <a:rPr lang="en-US" sz="3399">
                  <a:solidFill>
                    <a:srgbClr val="2A2E3A"/>
                  </a:solidFill>
                  <a:latin typeface="Helios"/>
                  <a:ea typeface="Helios"/>
                  <a:cs typeface="Helios"/>
                  <a:sym typeface="Helios"/>
                </a:rPr>
                <a:t>They offer unlimited versions of their services to millions of people supported by advertising and paid subscriptions.</a:t>
              </a:r>
            </a:p>
          </p:txBody>
        </p:sp>
        <p:grpSp>
          <p:nvGrpSpPr>
            <p:cNvPr name="Group 7" id="7"/>
            <p:cNvGrpSpPr/>
            <p:nvPr/>
          </p:nvGrpSpPr>
          <p:grpSpPr>
            <a:xfrm rot="-5400000">
              <a:off x="-112869" y="887497"/>
              <a:ext cx="735898" cy="510160"/>
              <a:chOff x="0" y="0"/>
              <a:chExt cx="812800" cy="563472"/>
            </a:xfrm>
          </p:grpSpPr>
          <p:sp>
            <p:nvSpPr>
              <p:cNvPr name="Freeform 8" id="8"/>
              <p:cNvSpPr/>
              <p:nvPr/>
            </p:nvSpPr>
            <p:spPr>
              <a:xfrm flipH="false" flipV="false" rot="0">
                <a:off x="0" y="0"/>
                <a:ext cx="812800" cy="563472"/>
              </a:xfrm>
              <a:custGeom>
                <a:avLst/>
                <a:gdLst/>
                <a:ahLst/>
                <a:cxnLst/>
                <a:rect r="r" b="b" t="t" l="l"/>
                <a:pathLst>
                  <a:path h="563472" w="812800">
                    <a:moveTo>
                      <a:pt x="406400" y="563472"/>
                    </a:moveTo>
                    <a:lnTo>
                      <a:pt x="812800" y="0"/>
                    </a:lnTo>
                    <a:lnTo>
                      <a:pt x="0" y="0"/>
                    </a:lnTo>
                    <a:lnTo>
                      <a:pt x="406400" y="563472"/>
                    </a:lnTo>
                    <a:close/>
                  </a:path>
                </a:pathLst>
              </a:custGeom>
              <a:solidFill>
                <a:srgbClr val="F24300"/>
              </a:solidFill>
            </p:spPr>
          </p:sp>
          <p:sp>
            <p:nvSpPr>
              <p:cNvPr name="TextBox 9" id="9"/>
              <p:cNvSpPr txBox="true"/>
              <p:nvPr/>
            </p:nvSpPr>
            <p:spPr>
              <a:xfrm>
                <a:off x="127000" y="30723"/>
                <a:ext cx="558800" cy="271137"/>
              </a:xfrm>
              <a:prstGeom prst="rect">
                <a:avLst/>
              </a:prstGeom>
            </p:spPr>
            <p:txBody>
              <a:bodyPr anchor="ctr" rtlCol="false" tIns="50800" lIns="50800" bIns="50800" rIns="50800"/>
              <a:lstStyle/>
              <a:p>
                <a:pPr algn="ctr">
                  <a:lnSpc>
                    <a:spcPts val="139"/>
                  </a:lnSpc>
                </a:pPr>
              </a:p>
            </p:txBody>
          </p:sp>
        </p:grpSp>
      </p:grpSp>
      <p:grpSp>
        <p:nvGrpSpPr>
          <p:cNvPr name="Group 10" id="10"/>
          <p:cNvGrpSpPr/>
          <p:nvPr/>
        </p:nvGrpSpPr>
        <p:grpSpPr>
          <a:xfrm rot="0">
            <a:off x="8433477" y="1737878"/>
            <a:ext cx="9185859" cy="3514090"/>
            <a:chOff x="0" y="0"/>
            <a:chExt cx="12247811" cy="4685454"/>
          </a:xfrm>
        </p:grpSpPr>
        <p:grpSp>
          <p:nvGrpSpPr>
            <p:cNvPr name="Group 11" id="11"/>
            <p:cNvGrpSpPr/>
            <p:nvPr/>
          </p:nvGrpSpPr>
          <p:grpSpPr>
            <a:xfrm rot="-5400000">
              <a:off x="-112869" y="2087647"/>
              <a:ext cx="735898" cy="510160"/>
              <a:chOff x="0" y="0"/>
              <a:chExt cx="812800" cy="563472"/>
            </a:xfrm>
          </p:grpSpPr>
          <p:sp>
            <p:nvSpPr>
              <p:cNvPr name="Freeform 12" id="12"/>
              <p:cNvSpPr/>
              <p:nvPr/>
            </p:nvSpPr>
            <p:spPr>
              <a:xfrm flipH="false" flipV="false" rot="0">
                <a:off x="0" y="0"/>
                <a:ext cx="812800" cy="563472"/>
              </a:xfrm>
              <a:custGeom>
                <a:avLst/>
                <a:gdLst/>
                <a:ahLst/>
                <a:cxnLst/>
                <a:rect r="r" b="b" t="t" l="l"/>
                <a:pathLst>
                  <a:path h="563472" w="812800">
                    <a:moveTo>
                      <a:pt x="406400" y="563472"/>
                    </a:moveTo>
                    <a:lnTo>
                      <a:pt x="812800" y="0"/>
                    </a:lnTo>
                    <a:lnTo>
                      <a:pt x="0" y="0"/>
                    </a:lnTo>
                    <a:lnTo>
                      <a:pt x="406400" y="563472"/>
                    </a:lnTo>
                    <a:close/>
                  </a:path>
                </a:pathLst>
              </a:custGeom>
              <a:solidFill>
                <a:srgbClr val="F24300"/>
              </a:solidFill>
            </p:spPr>
          </p:sp>
          <p:sp>
            <p:nvSpPr>
              <p:cNvPr name="TextBox 13" id="13"/>
              <p:cNvSpPr txBox="true"/>
              <p:nvPr/>
            </p:nvSpPr>
            <p:spPr>
              <a:xfrm>
                <a:off x="127000" y="30723"/>
                <a:ext cx="558800" cy="271137"/>
              </a:xfrm>
              <a:prstGeom prst="rect">
                <a:avLst/>
              </a:prstGeom>
            </p:spPr>
            <p:txBody>
              <a:bodyPr anchor="ctr" rtlCol="false" tIns="50800" lIns="50800" bIns="50800" rIns="50800"/>
              <a:lstStyle/>
              <a:p>
                <a:pPr algn="ctr">
                  <a:lnSpc>
                    <a:spcPts val="139"/>
                  </a:lnSpc>
                </a:pPr>
              </a:p>
            </p:txBody>
          </p:sp>
        </p:grpSp>
        <p:sp>
          <p:nvSpPr>
            <p:cNvPr name="TextBox 14" id="14"/>
            <p:cNvSpPr txBox="true"/>
            <p:nvPr/>
          </p:nvSpPr>
          <p:spPr>
            <a:xfrm rot="0">
              <a:off x="1452901" y="-76200"/>
              <a:ext cx="10794911" cy="4761654"/>
            </a:xfrm>
            <a:prstGeom prst="rect">
              <a:avLst/>
            </a:prstGeom>
          </p:spPr>
          <p:txBody>
            <a:bodyPr anchor="t" rtlCol="false" tIns="0" lIns="0" bIns="0" rIns="0">
              <a:spAutoFit/>
            </a:bodyPr>
            <a:lstStyle/>
            <a:p>
              <a:pPr algn="l">
                <a:lnSpc>
                  <a:spcPts val="4759"/>
                </a:lnSpc>
              </a:pPr>
              <a:r>
                <a:rPr lang="en-US" sz="3399">
                  <a:solidFill>
                    <a:srgbClr val="2A2E3A"/>
                  </a:solidFill>
                  <a:latin typeface="Helios"/>
                  <a:ea typeface="Helios"/>
                  <a:cs typeface="Helios"/>
                  <a:sym typeface="Helios"/>
                </a:rPr>
                <a:t>KKBOX is Asia’s Leading music streaming service. KKBOX features over 50 million legal tracks and is currently available in Taiwan, Hong Kong, Japan, Singapore and Malaysia with over 10 million users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12617" y="2180462"/>
            <a:ext cx="16862767" cy="3462655"/>
          </a:xfrm>
          <a:prstGeom prst="rect">
            <a:avLst/>
          </a:prstGeom>
        </p:spPr>
        <p:txBody>
          <a:bodyPr anchor="t" rtlCol="false" tIns="0" lIns="0" bIns="0" rIns="0">
            <a:spAutoFit/>
          </a:bodyPr>
          <a:lstStyle/>
          <a:p>
            <a:pPr algn="l">
              <a:lnSpc>
                <a:spcPts val="3920"/>
              </a:lnSpc>
            </a:pPr>
            <a:r>
              <a:rPr lang="en-US" sz="2800">
                <a:solidFill>
                  <a:srgbClr val="2A2E3A"/>
                </a:solidFill>
                <a:latin typeface="Helios"/>
                <a:ea typeface="Helios"/>
                <a:cs typeface="Helios"/>
                <a:sym typeface="Helios"/>
              </a:rPr>
              <a:t>The KKBOX’s Churn Prediction Challenge of the WSDM Cup 2018 is to predict the probability to churn for a member, who’s mem?bership expire in the current month. Here the criteria of "churn" is defined as failing to renew valid service subscription within 30 days after the current membership expires. The usable raw information includes user demographic data, past order transaction data, and user’s listening log data. The setting of the challenge is to use the February and March results as training data and perform churn prediction for April. For justifying the performance of the prediction, this competition uses Log Loss as the evaluation metric, which is defined as</a:t>
            </a:r>
          </a:p>
        </p:txBody>
      </p:sp>
      <p:sp>
        <p:nvSpPr>
          <p:cNvPr name="Freeform 3" id="3"/>
          <p:cNvSpPr/>
          <p:nvPr/>
        </p:nvSpPr>
        <p:spPr>
          <a:xfrm flipH="false" flipV="false" rot="0">
            <a:off x="5581483" y="6410199"/>
            <a:ext cx="7125034" cy="1255787"/>
          </a:xfrm>
          <a:custGeom>
            <a:avLst/>
            <a:gdLst/>
            <a:ahLst/>
            <a:cxnLst/>
            <a:rect r="r" b="b" t="t" l="l"/>
            <a:pathLst>
              <a:path h="1255787" w="7125034">
                <a:moveTo>
                  <a:pt x="0" y="0"/>
                </a:moveTo>
                <a:lnTo>
                  <a:pt x="7125034" y="0"/>
                </a:lnTo>
                <a:lnTo>
                  <a:pt x="7125034" y="1255788"/>
                </a:lnTo>
                <a:lnTo>
                  <a:pt x="0" y="1255788"/>
                </a:lnTo>
                <a:lnTo>
                  <a:pt x="0" y="0"/>
                </a:lnTo>
                <a:close/>
              </a:path>
            </a:pathLst>
          </a:custGeom>
          <a:blipFill>
            <a:blip r:embed="rId2"/>
            <a:stretch>
              <a:fillRect l="0" t="0" r="0" b="0"/>
            </a:stretch>
          </a:blipFill>
        </p:spPr>
      </p:sp>
      <p:sp>
        <p:nvSpPr>
          <p:cNvPr name="TextBox 4" id="4"/>
          <p:cNvSpPr txBox="true"/>
          <p:nvPr/>
        </p:nvSpPr>
        <p:spPr>
          <a:xfrm rot="0">
            <a:off x="6398346" y="536826"/>
            <a:ext cx="10860954"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Problem Definition</a:t>
            </a:r>
          </a:p>
        </p:txBody>
      </p:sp>
      <p:sp>
        <p:nvSpPr>
          <p:cNvPr name="TextBox 5" id="5"/>
          <p:cNvSpPr txBox="true"/>
          <p:nvPr/>
        </p:nvSpPr>
        <p:spPr>
          <a:xfrm rot="0">
            <a:off x="838707" y="7796873"/>
            <a:ext cx="16862767" cy="986155"/>
          </a:xfrm>
          <a:prstGeom prst="rect">
            <a:avLst/>
          </a:prstGeom>
        </p:spPr>
        <p:txBody>
          <a:bodyPr anchor="t" rtlCol="false" tIns="0" lIns="0" bIns="0" rIns="0">
            <a:spAutoFit/>
          </a:bodyPr>
          <a:lstStyle/>
          <a:p>
            <a:pPr algn="l">
              <a:lnSpc>
                <a:spcPts val="3920"/>
              </a:lnSpc>
            </a:pPr>
            <a:r>
              <a:rPr lang="en-US" sz="2800">
                <a:solidFill>
                  <a:srgbClr val="2A2E3A"/>
                </a:solidFill>
                <a:latin typeface="Helios"/>
                <a:ea typeface="Helios"/>
                <a:cs typeface="Helios"/>
                <a:sym typeface="Helios"/>
              </a:rPr>
              <a:t>where N is the number of observations, log is the natural logarithm, yi is the binary target, and pi is the predicted probability that yi equals 1</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398346" y="575945"/>
            <a:ext cx="10860954"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Problem Statement</a:t>
            </a:r>
          </a:p>
        </p:txBody>
      </p:sp>
      <p:sp>
        <p:nvSpPr>
          <p:cNvPr name="TextBox 3" id="3"/>
          <p:cNvSpPr txBox="true"/>
          <p:nvPr/>
        </p:nvSpPr>
        <p:spPr>
          <a:xfrm rot="0">
            <a:off x="484472" y="2390775"/>
            <a:ext cx="16409307" cy="990600"/>
          </a:xfrm>
          <a:prstGeom prst="rect">
            <a:avLst/>
          </a:prstGeom>
        </p:spPr>
        <p:txBody>
          <a:bodyPr anchor="t" rtlCol="false" tIns="0" lIns="0" bIns="0" rIns="0">
            <a:spAutoFit/>
          </a:bodyPr>
          <a:lstStyle/>
          <a:p>
            <a:pPr algn="l">
              <a:lnSpc>
                <a:spcPts val="3959"/>
              </a:lnSpc>
              <a:spcBef>
                <a:spcPct val="0"/>
              </a:spcBef>
            </a:pPr>
            <a:r>
              <a:rPr lang="en-US" b="true" sz="3299">
                <a:solidFill>
                  <a:srgbClr val="000000"/>
                </a:solidFill>
                <a:latin typeface="Montserrat Bold"/>
                <a:ea typeface="Montserrat Bold"/>
                <a:cs typeface="Montserrat Bold"/>
                <a:sym typeface="Montserrat Bold"/>
              </a:rPr>
              <a:t>The goal</a:t>
            </a:r>
            <a:r>
              <a:rPr lang="en-US" sz="3299">
                <a:solidFill>
                  <a:srgbClr val="000000"/>
                </a:solidFill>
                <a:latin typeface="Montserrat"/>
                <a:ea typeface="Montserrat"/>
                <a:cs typeface="Montserrat"/>
                <a:sym typeface="Montserrat"/>
              </a:rPr>
              <a:t> is to build an algorithm that predicts whether a user will churn after their current subscription expires.</a:t>
            </a:r>
          </a:p>
        </p:txBody>
      </p:sp>
      <p:sp>
        <p:nvSpPr>
          <p:cNvPr name="TextBox 4" id="4"/>
          <p:cNvSpPr txBox="true"/>
          <p:nvPr/>
        </p:nvSpPr>
        <p:spPr>
          <a:xfrm rot="0">
            <a:off x="484472" y="4400550"/>
            <a:ext cx="16409307" cy="1485900"/>
          </a:xfrm>
          <a:prstGeom prst="rect">
            <a:avLst/>
          </a:prstGeom>
        </p:spPr>
        <p:txBody>
          <a:bodyPr anchor="t" rtlCol="false" tIns="0" lIns="0" bIns="0" rIns="0">
            <a:spAutoFit/>
          </a:bodyPr>
          <a:lstStyle/>
          <a:p>
            <a:pPr algn="l">
              <a:lnSpc>
                <a:spcPts val="3959"/>
              </a:lnSpc>
              <a:spcBef>
                <a:spcPct val="0"/>
              </a:spcBef>
            </a:pPr>
            <a:r>
              <a:rPr lang="en-US" b="true" sz="3299">
                <a:solidFill>
                  <a:srgbClr val="000000"/>
                </a:solidFill>
                <a:latin typeface="Montserrat Bold"/>
                <a:ea typeface="Montserrat Bold"/>
                <a:cs typeface="Montserrat Bold"/>
                <a:sym typeface="Montserrat Bold"/>
              </a:rPr>
              <a:t>D</a:t>
            </a:r>
            <a:r>
              <a:rPr lang="en-US" b="true" sz="3299">
                <a:solidFill>
                  <a:srgbClr val="000000"/>
                </a:solidFill>
                <a:latin typeface="Montserrat Bold"/>
                <a:ea typeface="Montserrat Bold"/>
                <a:cs typeface="Montserrat Bold"/>
                <a:sym typeface="Montserrat Bold"/>
              </a:rPr>
              <a:t>efinition of Churn</a:t>
            </a:r>
            <a:r>
              <a:rPr lang="en-US" sz="3299">
                <a:solidFill>
                  <a:srgbClr val="000000"/>
                </a:solidFill>
                <a:latin typeface="Montserrat"/>
                <a:ea typeface="Montserrat"/>
                <a:cs typeface="Montserrat"/>
                <a:sym typeface="Montserrat"/>
              </a:rPr>
              <a:t>: A user is considered to have churned if they do not renew their subscription within 30 days after their current membership expiration date</a:t>
            </a:r>
          </a:p>
        </p:txBody>
      </p:sp>
      <p:sp>
        <p:nvSpPr>
          <p:cNvPr name="TextBox 5" id="5"/>
          <p:cNvSpPr txBox="true"/>
          <p:nvPr/>
        </p:nvSpPr>
        <p:spPr>
          <a:xfrm rot="0">
            <a:off x="484472" y="6905625"/>
            <a:ext cx="16409307" cy="1485900"/>
          </a:xfrm>
          <a:prstGeom prst="rect">
            <a:avLst/>
          </a:prstGeom>
        </p:spPr>
        <p:txBody>
          <a:bodyPr anchor="t" rtlCol="false" tIns="0" lIns="0" bIns="0" rIns="0">
            <a:spAutoFit/>
          </a:bodyPr>
          <a:lstStyle/>
          <a:p>
            <a:pPr algn="l">
              <a:lnSpc>
                <a:spcPts val="3959"/>
              </a:lnSpc>
              <a:spcBef>
                <a:spcPct val="0"/>
              </a:spcBef>
            </a:pPr>
            <a:r>
              <a:rPr lang="en-US" b="true" sz="3299">
                <a:solidFill>
                  <a:srgbClr val="000000"/>
                </a:solidFill>
                <a:latin typeface="Montserrat Bold"/>
                <a:ea typeface="Montserrat Bold"/>
                <a:cs typeface="Montserrat Bold"/>
                <a:sym typeface="Montserrat Bold"/>
              </a:rPr>
              <a:t>T</a:t>
            </a:r>
            <a:r>
              <a:rPr lang="en-US" b="true" sz="3299">
                <a:solidFill>
                  <a:srgbClr val="000000"/>
                </a:solidFill>
                <a:latin typeface="Montserrat Bold"/>
                <a:ea typeface="Montserrat Bold"/>
                <a:cs typeface="Montserrat Bold"/>
                <a:sym typeface="Montserrat Bold"/>
              </a:rPr>
              <a:t>ime Frame: </a:t>
            </a:r>
            <a:r>
              <a:rPr lang="en-US" sz="3299">
                <a:solidFill>
                  <a:srgbClr val="000000"/>
                </a:solidFill>
                <a:latin typeface="Montserrat"/>
                <a:ea typeface="Montserrat"/>
                <a:cs typeface="Montserrat"/>
                <a:sym typeface="Montserrat"/>
              </a:rPr>
              <a:t>The challenge involves training on data where subscriptions expire in February 2017 and predicting churn for users whose subscriptions expire in March 2017.</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99680" y="-1470403"/>
            <a:ext cx="14026196" cy="11628992"/>
          </a:xfrm>
          <a:custGeom>
            <a:avLst/>
            <a:gdLst/>
            <a:ahLst/>
            <a:cxnLst/>
            <a:rect r="r" b="b" t="t" l="l"/>
            <a:pathLst>
              <a:path h="11628992" w="14026196">
                <a:moveTo>
                  <a:pt x="0" y="0"/>
                </a:moveTo>
                <a:lnTo>
                  <a:pt x="14026196" y="0"/>
                </a:lnTo>
                <a:lnTo>
                  <a:pt x="14026196" y="11628992"/>
                </a:lnTo>
                <a:lnTo>
                  <a:pt x="0" y="11628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40046" y="4034946"/>
            <a:ext cx="14207909" cy="2217107"/>
            <a:chOff x="0" y="0"/>
            <a:chExt cx="18943878" cy="2956143"/>
          </a:xfrm>
        </p:grpSpPr>
        <p:sp>
          <p:nvSpPr>
            <p:cNvPr name="TextBox 4" id="4"/>
            <p:cNvSpPr txBox="true"/>
            <p:nvPr/>
          </p:nvSpPr>
          <p:spPr>
            <a:xfrm rot="0">
              <a:off x="0" y="0"/>
              <a:ext cx="18943878" cy="1727200"/>
            </a:xfrm>
            <a:prstGeom prst="rect">
              <a:avLst/>
            </a:prstGeom>
          </p:spPr>
          <p:txBody>
            <a:bodyPr anchor="t" rtlCol="false" tIns="0" lIns="0" bIns="0" rIns="0">
              <a:spAutoFit/>
            </a:bodyPr>
            <a:lstStyle/>
            <a:p>
              <a:pPr algn="ctr" marL="0" indent="0" lvl="0">
                <a:lnSpc>
                  <a:spcPts val="10200"/>
                </a:lnSpc>
                <a:spcBef>
                  <a:spcPct val="0"/>
                </a:spcBef>
              </a:pPr>
              <a:r>
                <a:rPr lang="en-US" b="true" sz="8500">
                  <a:solidFill>
                    <a:srgbClr val="000000"/>
                  </a:solidFill>
                  <a:latin typeface="Muli Bold"/>
                  <a:ea typeface="Muli Bold"/>
                  <a:cs typeface="Muli Bold"/>
                  <a:sym typeface="Muli Bold"/>
                </a:rPr>
                <a:t>Data Overview</a:t>
              </a:r>
            </a:p>
          </p:txBody>
        </p:sp>
        <p:sp>
          <p:nvSpPr>
            <p:cNvPr name="TextBox 5" id="5"/>
            <p:cNvSpPr txBox="true"/>
            <p:nvPr/>
          </p:nvSpPr>
          <p:spPr>
            <a:xfrm rot="0">
              <a:off x="0" y="2317968"/>
              <a:ext cx="18943878" cy="638175"/>
            </a:xfrm>
            <a:prstGeom prst="rect">
              <a:avLst/>
            </a:prstGeom>
          </p:spPr>
          <p:txBody>
            <a:bodyPr anchor="t" rtlCol="false" tIns="0" lIns="0" bIns="0" rIns="0">
              <a:spAutoFit/>
            </a:bodyPr>
            <a:lstStyle/>
            <a:p>
              <a:pPr algn="ctr">
                <a:lnSpc>
                  <a:spcPts val="3900"/>
                </a:lnSpc>
              </a:pPr>
              <a:r>
                <a:rPr lang="en-US" sz="3000">
                  <a:solidFill>
                    <a:srgbClr val="000000"/>
                  </a:solidFill>
                  <a:latin typeface="Muli"/>
                  <a:ea typeface="Muli"/>
                  <a:cs typeface="Muli"/>
                  <a:sym typeface="Muli"/>
                </a:rPr>
                <a:t>WSDM KKBOX's dataset</a:t>
              </a:r>
            </a:p>
          </p:txBody>
        </p:sp>
      </p:gr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398346" y="575945"/>
            <a:ext cx="10860954"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Data Overview</a:t>
            </a:r>
          </a:p>
        </p:txBody>
      </p:sp>
      <p:sp>
        <p:nvSpPr>
          <p:cNvPr name="TextBox 3" id="3"/>
          <p:cNvSpPr txBox="true"/>
          <p:nvPr/>
        </p:nvSpPr>
        <p:spPr>
          <a:xfrm rot="0">
            <a:off x="4024573" y="2556901"/>
            <a:ext cx="5004643" cy="4888232"/>
          </a:xfrm>
          <a:prstGeom prst="rect">
            <a:avLst/>
          </a:prstGeom>
        </p:spPr>
        <p:txBody>
          <a:bodyPr anchor="t" rtlCol="false" tIns="0" lIns="0" bIns="0" rIns="0">
            <a:spAutoFit/>
          </a:bodyPr>
          <a:lstStyle/>
          <a:p>
            <a:pPr algn="l">
              <a:lnSpc>
                <a:spcPts val="5579"/>
              </a:lnSpc>
            </a:pPr>
            <a:r>
              <a:rPr lang="en-US" sz="3599">
                <a:solidFill>
                  <a:srgbClr val="0070C0"/>
                </a:solidFill>
                <a:latin typeface="Montserrat"/>
                <a:ea typeface="Montserrat"/>
                <a:cs typeface="Montserrat"/>
                <a:sym typeface="Montserrat"/>
              </a:rPr>
              <a:t>members_v3.csv</a:t>
            </a:r>
          </a:p>
          <a:p>
            <a:pPr algn="l">
              <a:lnSpc>
                <a:spcPts val="5579"/>
              </a:lnSpc>
            </a:pPr>
            <a:r>
              <a:rPr lang="en-US" sz="3599">
                <a:solidFill>
                  <a:srgbClr val="0070C0"/>
                </a:solidFill>
                <a:latin typeface="Montserrat"/>
                <a:ea typeface="Montserrat"/>
                <a:cs typeface="Montserrat"/>
                <a:sym typeface="Montserrat"/>
              </a:rPr>
              <a:t>train.csv</a:t>
            </a:r>
          </a:p>
          <a:p>
            <a:pPr algn="l">
              <a:lnSpc>
                <a:spcPts val="5579"/>
              </a:lnSpc>
            </a:pPr>
            <a:r>
              <a:rPr lang="en-US" sz="3599">
                <a:solidFill>
                  <a:srgbClr val="0070C0"/>
                </a:solidFill>
                <a:latin typeface="Montserrat"/>
                <a:ea typeface="Montserrat"/>
                <a:cs typeface="Montserrat"/>
                <a:sym typeface="Montserrat"/>
              </a:rPr>
              <a:t>train_v2.csv</a:t>
            </a:r>
          </a:p>
          <a:p>
            <a:pPr algn="l">
              <a:lnSpc>
                <a:spcPts val="5579"/>
              </a:lnSpc>
            </a:pPr>
            <a:r>
              <a:rPr lang="en-US" sz="3599">
                <a:solidFill>
                  <a:srgbClr val="0070C0"/>
                </a:solidFill>
                <a:latin typeface="Montserrat"/>
                <a:ea typeface="Montserrat"/>
                <a:cs typeface="Montserrat"/>
                <a:sym typeface="Montserrat"/>
              </a:rPr>
              <a:t>transactions.csv</a:t>
            </a:r>
          </a:p>
          <a:p>
            <a:pPr algn="l">
              <a:lnSpc>
                <a:spcPts val="5579"/>
              </a:lnSpc>
            </a:pPr>
            <a:r>
              <a:rPr lang="en-US" sz="3599">
                <a:solidFill>
                  <a:srgbClr val="0070C0"/>
                </a:solidFill>
                <a:latin typeface="Montserrat"/>
                <a:ea typeface="Montserrat"/>
                <a:cs typeface="Montserrat"/>
                <a:sym typeface="Montserrat"/>
              </a:rPr>
              <a:t>transactions_v2.csv</a:t>
            </a:r>
          </a:p>
          <a:p>
            <a:pPr algn="l">
              <a:lnSpc>
                <a:spcPts val="5579"/>
              </a:lnSpc>
            </a:pPr>
            <a:r>
              <a:rPr lang="en-US" sz="3599">
                <a:solidFill>
                  <a:srgbClr val="0070C0"/>
                </a:solidFill>
                <a:latin typeface="Montserrat"/>
                <a:ea typeface="Montserrat"/>
                <a:cs typeface="Montserrat"/>
                <a:sym typeface="Montserrat"/>
              </a:rPr>
              <a:t>user_logs.csv</a:t>
            </a:r>
          </a:p>
          <a:p>
            <a:pPr algn="l">
              <a:lnSpc>
                <a:spcPts val="5579"/>
              </a:lnSpc>
            </a:pPr>
            <a:r>
              <a:rPr lang="en-US" sz="3599">
                <a:solidFill>
                  <a:srgbClr val="0070C0"/>
                </a:solidFill>
                <a:latin typeface="Montserrat"/>
                <a:ea typeface="Montserrat"/>
                <a:cs typeface="Montserrat"/>
                <a:sym typeface="Montserrat"/>
              </a:rPr>
              <a:t>user_logs_v2.csv</a:t>
            </a:r>
          </a:p>
        </p:txBody>
      </p:sp>
      <p:sp>
        <p:nvSpPr>
          <p:cNvPr name="TextBox 4" id="4"/>
          <p:cNvSpPr txBox="true"/>
          <p:nvPr/>
        </p:nvSpPr>
        <p:spPr>
          <a:xfrm rot="0">
            <a:off x="8541459" y="8368315"/>
            <a:ext cx="3388929" cy="542925"/>
          </a:xfrm>
          <a:prstGeom prst="rect">
            <a:avLst/>
          </a:prstGeom>
        </p:spPr>
        <p:txBody>
          <a:bodyPr anchor="t" rtlCol="false" tIns="0" lIns="0" bIns="0" rIns="0">
            <a:spAutoFit/>
          </a:bodyPr>
          <a:lstStyle/>
          <a:p>
            <a:pPr algn="ctr">
              <a:lnSpc>
                <a:spcPts val="4319"/>
              </a:lnSpc>
              <a:spcBef>
                <a:spcPct val="0"/>
              </a:spcBef>
            </a:pPr>
            <a:r>
              <a:rPr lang="en-US" sz="3599">
                <a:solidFill>
                  <a:srgbClr val="000000"/>
                </a:solidFill>
                <a:latin typeface="Montserrat"/>
                <a:ea typeface="Montserrat"/>
                <a:cs typeface="Montserrat"/>
                <a:sym typeface="Montserrat"/>
              </a:rPr>
              <a:t>8.95 GB</a:t>
            </a:r>
          </a:p>
        </p:txBody>
      </p:sp>
      <p:sp>
        <p:nvSpPr>
          <p:cNvPr name="AutoShape 5" id="5"/>
          <p:cNvSpPr/>
          <p:nvPr/>
        </p:nvSpPr>
        <p:spPr>
          <a:xfrm>
            <a:off x="4024573" y="7920640"/>
            <a:ext cx="7736533" cy="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9258785" y="2584733"/>
            <a:ext cx="5004643" cy="4888232"/>
          </a:xfrm>
          <a:prstGeom prst="rect">
            <a:avLst/>
          </a:prstGeom>
        </p:spPr>
        <p:txBody>
          <a:bodyPr anchor="t" rtlCol="false" tIns="0" lIns="0" bIns="0" rIns="0">
            <a:spAutoFit/>
          </a:bodyPr>
          <a:lstStyle/>
          <a:p>
            <a:pPr algn="l">
              <a:lnSpc>
                <a:spcPts val="5579"/>
              </a:lnSpc>
            </a:pPr>
            <a:r>
              <a:rPr lang="en-US" sz="3599">
                <a:solidFill>
                  <a:srgbClr val="000000"/>
                </a:solidFill>
                <a:latin typeface="Montserrat"/>
                <a:ea typeface="Montserrat"/>
                <a:cs typeface="Montserrat"/>
                <a:sym typeface="Montserrat"/>
              </a:rPr>
              <a:t>241 MB</a:t>
            </a:r>
          </a:p>
          <a:p>
            <a:pPr algn="l">
              <a:lnSpc>
                <a:spcPts val="5579"/>
              </a:lnSpc>
            </a:pPr>
            <a:r>
              <a:rPr lang="en-US" sz="3599">
                <a:solidFill>
                  <a:srgbClr val="000000"/>
                </a:solidFill>
                <a:latin typeface="Montserrat"/>
                <a:ea typeface="Montserrat"/>
                <a:cs typeface="Montserrat"/>
                <a:sym typeface="Montserrat"/>
              </a:rPr>
              <a:t>33 MB</a:t>
            </a:r>
          </a:p>
          <a:p>
            <a:pPr algn="l">
              <a:lnSpc>
                <a:spcPts val="5579"/>
              </a:lnSpc>
            </a:pPr>
            <a:r>
              <a:rPr lang="en-US" sz="3599">
                <a:solidFill>
                  <a:srgbClr val="000000"/>
                </a:solidFill>
                <a:latin typeface="Montserrat"/>
                <a:ea typeface="Montserrat"/>
                <a:cs typeface="Montserrat"/>
                <a:sym typeface="Montserrat"/>
              </a:rPr>
              <a:t>32 MB</a:t>
            </a:r>
          </a:p>
          <a:p>
            <a:pPr algn="l">
              <a:lnSpc>
                <a:spcPts val="5579"/>
              </a:lnSpc>
            </a:pPr>
            <a:r>
              <a:rPr lang="en-US" sz="3599">
                <a:solidFill>
                  <a:srgbClr val="000000"/>
                </a:solidFill>
                <a:latin typeface="Montserrat"/>
                <a:ea typeface="Montserrat"/>
                <a:cs typeface="Montserrat"/>
                <a:sym typeface="Montserrat"/>
              </a:rPr>
              <a:t>707 MB </a:t>
            </a:r>
          </a:p>
          <a:p>
            <a:pPr algn="l">
              <a:lnSpc>
                <a:spcPts val="5579"/>
              </a:lnSpc>
            </a:pPr>
            <a:r>
              <a:rPr lang="en-US" sz="3599">
                <a:solidFill>
                  <a:srgbClr val="000000"/>
                </a:solidFill>
                <a:latin typeface="Montserrat"/>
                <a:ea typeface="Montserrat"/>
                <a:cs typeface="Montserrat"/>
                <a:sym typeface="Montserrat"/>
              </a:rPr>
              <a:t>48 MB</a:t>
            </a:r>
          </a:p>
          <a:p>
            <a:pPr algn="l">
              <a:lnSpc>
                <a:spcPts val="5579"/>
              </a:lnSpc>
            </a:pPr>
            <a:r>
              <a:rPr lang="en-US" sz="3599">
                <a:solidFill>
                  <a:srgbClr val="000000"/>
                </a:solidFill>
                <a:latin typeface="Montserrat"/>
                <a:ea typeface="Montserrat"/>
                <a:cs typeface="Montserrat"/>
                <a:sym typeface="Montserrat"/>
              </a:rPr>
              <a:t>7.14 GB</a:t>
            </a:r>
          </a:p>
          <a:p>
            <a:pPr algn="l">
              <a:lnSpc>
                <a:spcPts val="5579"/>
              </a:lnSpc>
            </a:pPr>
            <a:r>
              <a:rPr lang="en-US" sz="3599">
                <a:solidFill>
                  <a:srgbClr val="000000"/>
                </a:solidFill>
                <a:latin typeface="Montserrat"/>
                <a:ea typeface="Montserrat"/>
                <a:cs typeface="Montserrat"/>
                <a:sym typeface="Montserrat"/>
              </a:rPr>
              <a:t>685 MB</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398346" y="575945"/>
            <a:ext cx="10860954"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Data Overview</a:t>
            </a:r>
          </a:p>
        </p:txBody>
      </p:sp>
      <p:sp>
        <p:nvSpPr>
          <p:cNvPr name="TextBox 3" id="3"/>
          <p:cNvSpPr txBox="true"/>
          <p:nvPr/>
        </p:nvSpPr>
        <p:spPr>
          <a:xfrm rot="0">
            <a:off x="569016" y="1690370"/>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train</a:t>
            </a:r>
            <a:r>
              <a:rPr lang="en-US" b="true" sz="3599">
                <a:solidFill>
                  <a:srgbClr val="0070C0"/>
                </a:solidFill>
                <a:latin typeface="Montserrat Bold"/>
                <a:ea typeface="Montserrat Bold"/>
                <a:cs typeface="Montserrat Bold"/>
                <a:sym typeface="Montserrat Bold"/>
              </a:rPr>
              <a:t>.csv</a:t>
            </a:r>
          </a:p>
        </p:txBody>
      </p:sp>
      <p:sp>
        <p:nvSpPr>
          <p:cNvPr name="TextBox 4" id="4"/>
          <p:cNvSpPr txBox="true"/>
          <p:nvPr/>
        </p:nvSpPr>
        <p:spPr>
          <a:xfrm rot="0">
            <a:off x="569016" y="2526775"/>
            <a:ext cx="15865276" cy="3086100"/>
          </a:xfrm>
          <a:prstGeom prst="rect">
            <a:avLst/>
          </a:prstGeom>
        </p:spPr>
        <p:txBody>
          <a:bodyPr anchor="t" rtlCol="false" tIns="0" lIns="0" bIns="0" rIns="0">
            <a:spAutoFit/>
          </a:bodyPr>
          <a:lstStyle/>
          <a:p>
            <a:pPr algn="l">
              <a:lnSpc>
                <a:spcPts val="4079"/>
              </a:lnSpc>
              <a:spcBef>
                <a:spcPct val="0"/>
              </a:spcBef>
            </a:pPr>
            <a:r>
              <a:rPr lang="en-US" sz="3399">
                <a:solidFill>
                  <a:srgbClr val="000000"/>
                </a:solidFill>
                <a:latin typeface="Montserrat"/>
                <a:ea typeface="Montserrat"/>
                <a:cs typeface="Montserrat"/>
                <a:sym typeface="Montserrat"/>
              </a:rPr>
              <a:t>Th</a:t>
            </a:r>
            <a:r>
              <a:rPr lang="en-US" sz="3399">
                <a:solidFill>
                  <a:srgbClr val="000000"/>
                </a:solidFill>
                <a:latin typeface="Montserrat"/>
                <a:ea typeface="Montserrat"/>
                <a:cs typeface="Montserrat"/>
                <a:sym typeface="Montserrat"/>
              </a:rPr>
              <a:t>e train set, containing the user ids and whether they have churned.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msno</a:t>
            </a:r>
            <a:r>
              <a:rPr lang="en-US" sz="3399">
                <a:solidFill>
                  <a:srgbClr val="000000"/>
                </a:solidFill>
                <a:latin typeface="Montserrat"/>
                <a:ea typeface="Montserrat"/>
                <a:cs typeface="Montserrat"/>
                <a:sym typeface="Montserrat"/>
              </a:rPr>
              <a:t>: user id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is_churn</a:t>
            </a:r>
            <a:r>
              <a:rPr lang="en-US" sz="3399">
                <a:solidFill>
                  <a:srgbClr val="000000"/>
                </a:solidFill>
                <a:latin typeface="Montserrat"/>
                <a:ea typeface="Montserrat"/>
                <a:cs typeface="Montserrat"/>
                <a:sym typeface="Montserrat"/>
              </a:rPr>
              <a:t>: This is the target variable. Churn is defined as whether</a:t>
            </a:r>
            <a:r>
              <a:rPr lang="en-US" sz="3399">
                <a:solidFill>
                  <a:srgbClr val="000000"/>
                </a:solidFill>
                <a:latin typeface="Montserrat"/>
                <a:ea typeface="Montserrat"/>
                <a:cs typeface="Montserrat"/>
                <a:sym typeface="Montserrat"/>
              </a:rPr>
              <a:t> th</a:t>
            </a:r>
            <a:r>
              <a:rPr lang="en-US" sz="3399">
                <a:solidFill>
                  <a:srgbClr val="000000"/>
                </a:solidFill>
                <a:latin typeface="Montserrat"/>
                <a:ea typeface="Montserrat"/>
                <a:cs typeface="Montserrat"/>
                <a:sym typeface="Montserrat"/>
              </a:rPr>
              <a:t>e</a:t>
            </a:r>
            <a:r>
              <a:rPr lang="en-US" sz="3399">
                <a:solidFill>
                  <a:srgbClr val="000000"/>
                </a:solidFill>
                <a:latin typeface="Montserrat"/>
                <a:ea typeface="Montserrat"/>
                <a:cs typeface="Montserrat"/>
                <a:sym typeface="Montserrat"/>
              </a:rPr>
              <a:t> u</a:t>
            </a:r>
            <a:r>
              <a:rPr lang="en-US" sz="3399">
                <a:solidFill>
                  <a:srgbClr val="000000"/>
                </a:solidFill>
                <a:latin typeface="Montserrat"/>
                <a:ea typeface="Montserrat"/>
                <a:cs typeface="Montserrat"/>
                <a:sym typeface="Montserrat"/>
              </a:rPr>
              <a:t>ser</a:t>
            </a:r>
            <a:r>
              <a:rPr lang="en-US" sz="3399">
                <a:solidFill>
                  <a:srgbClr val="000000"/>
                </a:solidFill>
                <a:latin typeface="Montserrat"/>
                <a:ea typeface="Montserrat"/>
                <a:cs typeface="Montserrat"/>
                <a:sym typeface="Montserrat"/>
              </a:rPr>
              <a:t> </a:t>
            </a:r>
            <a:r>
              <a:rPr lang="en-US" sz="3399">
                <a:solidFill>
                  <a:srgbClr val="000000"/>
                </a:solidFill>
                <a:latin typeface="Montserrat"/>
                <a:ea typeface="Montserrat"/>
                <a:cs typeface="Montserrat"/>
                <a:sym typeface="Montserrat"/>
              </a:rPr>
              <a:t>di</a:t>
            </a:r>
            <a:r>
              <a:rPr lang="en-US" sz="3399">
                <a:solidFill>
                  <a:srgbClr val="000000"/>
                </a:solidFill>
                <a:latin typeface="Montserrat"/>
                <a:ea typeface="Montserrat"/>
                <a:cs typeface="Montserrat"/>
                <a:sym typeface="Montserrat"/>
              </a:rPr>
              <a:t>d</a:t>
            </a:r>
            <a:r>
              <a:rPr lang="en-US" sz="3399">
                <a:solidFill>
                  <a:srgbClr val="000000"/>
                </a:solidFill>
                <a:latin typeface="Montserrat"/>
                <a:ea typeface="Montserrat"/>
                <a:cs typeface="Montserrat"/>
                <a:sym typeface="Montserrat"/>
              </a:rPr>
              <a:t> not continue the</a:t>
            </a:r>
            <a:r>
              <a:rPr lang="en-US" sz="3399">
                <a:solidFill>
                  <a:srgbClr val="000000"/>
                </a:solidFill>
                <a:latin typeface="Montserrat"/>
                <a:ea typeface="Montserrat"/>
                <a:cs typeface="Montserrat"/>
                <a:sym typeface="Montserrat"/>
              </a:rPr>
              <a:t> sub</a:t>
            </a:r>
            <a:r>
              <a:rPr lang="en-US" sz="3399">
                <a:solidFill>
                  <a:srgbClr val="000000"/>
                </a:solidFill>
                <a:latin typeface="Montserrat"/>
                <a:ea typeface="Montserrat"/>
                <a:cs typeface="Montserrat"/>
                <a:sym typeface="Montserrat"/>
              </a:rPr>
              <a:t>s</a:t>
            </a:r>
            <a:r>
              <a:rPr lang="en-US" sz="3399">
                <a:solidFill>
                  <a:srgbClr val="000000"/>
                </a:solidFill>
                <a:latin typeface="Montserrat"/>
                <a:ea typeface="Montserrat"/>
                <a:cs typeface="Montserrat"/>
                <a:sym typeface="Montserrat"/>
              </a:rPr>
              <a:t>c</a:t>
            </a:r>
            <a:r>
              <a:rPr lang="en-US" sz="3399">
                <a:solidFill>
                  <a:srgbClr val="000000"/>
                </a:solidFill>
                <a:latin typeface="Montserrat"/>
                <a:ea typeface="Montserrat"/>
                <a:cs typeface="Montserrat"/>
                <a:sym typeface="Montserrat"/>
              </a:rPr>
              <a:t>r</a:t>
            </a:r>
            <a:r>
              <a:rPr lang="en-US" sz="3399">
                <a:solidFill>
                  <a:srgbClr val="000000"/>
                </a:solidFill>
                <a:latin typeface="Montserrat"/>
                <a:ea typeface="Montserrat"/>
                <a:cs typeface="Montserrat"/>
                <a:sym typeface="Montserrat"/>
              </a:rPr>
              <a:t>ip</a:t>
            </a:r>
            <a:r>
              <a:rPr lang="en-US" sz="3399">
                <a:solidFill>
                  <a:srgbClr val="000000"/>
                </a:solidFill>
                <a:latin typeface="Montserrat"/>
                <a:ea typeface="Montserrat"/>
                <a:cs typeface="Montserrat"/>
                <a:sym typeface="Montserrat"/>
              </a:rPr>
              <a:t>tion</a:t>
            </a:r>
            <a:r>
              <a:rPr lang="en-US" sz="3399">
                <a:solidFill>
                  <a:srgbClr val="000000"/>
                </a:solidFill>
                <a:latin typeface="Montserrat"/>
                <a:ea typeface="Montserrat"/>
                <a:cs typeface="Montserrat"/>
                <a:sym typeface="Montserrat"/>
              </a:rPr>
              <a:t> w</a:t>
            </a:r>
            <a:r>
              <a:rPr lang="en-US" sz="3399">
                <a:solidFill>
                  <a:srgbClr val="000000"/>
                </a:solidFill>
                <a:latin typeface="Montserrat"/>
                <a:ea typeface="Montserrat"/>
                <a:cs typeface="Montserrat"/>
                <a:sym typeface="Montserrat"/>
              </a:rPr>
              <a:t>it</a:t>
            </a:r>
            <a:r>
              <a:rPr lang="en-US" sz="3399">
                <a:solidFill>
                  <a:srgbClr val="000000"/>
                </a:solidFill>
                <a:latin typeface="Montserrat"/>
                <a:ea typeface="Montserrat"/>
                <a:cs typeface="Montserrat"/>
                <a:sym typeface="Montserrat"/>
              </a:rPr>
              <a:t>h</a:t>
            </a:r>
            <a:r>
              <a:rPr lang="en-US" sz="3399">
                <a:solidFill>
                  <a:srgbClr val="000000"/>
                </a:solidFill>
                <a:latin typeface="Montserrat"/>
                <a:ea typeface="Montserrat"/>
                <a:cs typeface="Montserrat"/>
                <a:sym typeface="Montserrat"/>
              </a:rPr>
              <a:t>i</a:t>
            </a:r>
            <a:r>
              <a:rPr lang="en-US" sz="3399">
                <a:solidFill>
                  <a:srgbClr val="000000"/>
                </a:solidFill>
                <a:latin typeface="Montserrat"/>
                <a:ea typeface="Montserrat"/>
                <a:cs typeface="Montserrat"/>
                <a:sym typeface="Montserrat"/>
              </a:rPr>
              <a:t>n 30 days</a:t>
            </a:r>
            <a:r>
              <a:rPr lang="en-US" sz="3399">
                <a:solidFill>
                  <a:srgbClr val="000000"/>
                </a:solidFill>
                <a:latin typeface="Montserrat"/>
                <a:ea typeface="Montserrat"/>
                <a:cs typeface="Montserrat"/>
                <a:sym typeface="Montserrat"/>
              </a:rPr>
              <a:t> of expiration</a:t>
            </a:r>
            <a:r>
              <a:rPr lang="en-US" sz="3399">
                <a:solidFill>
                  <a:srgbClr val="000000"/>
                </a:solidFill>
                <a:latin typeface="Montserrat"/>
                <a:ea typeface="Montserrat"/>
                <a:cs typeface="Montserrat"/>
                <a:sym typeface="Montserrat"/>
              </a:rPr>
              <a:t>. </a:t>
            </a:r>
            <a:r>
              <a:rPr lang="en-US" sz="3399">
                <a:solidFill>
                  <a:srgbClr val="ED1C24"/>
                </a:solidFill>
                <a:latin typeface="Montserrat"/>
                <a:ea typeface="Montserrat"/>
                <a:cs typeface="Montserrat"/>
                <a:sym typeface="Montserrat"/>
              </a:rPr>
              <a:t>is</a:t>
            </a:r>
            <a:r>
              <a:rPr lang="en-US" sz="3399">
                <a:solidFill>
                  <a:srgbClr val="ED1C24"/>
                </a:solidFill>
                <a:latin typeface="Montserrat"/>
                <a:ea typeface="Montserrat"/>
                <a:cs typeface="Montserrat"/>
                <a:sym typeface="Montserrat"/>
              </a:rPr>
              <a:t>_</a:t>
            </a:r>
            <a:r>
              <a:rPr lang="en-US" sz="3399">
                <a:solidFill>
                  <a:srgbClr val="ED1C24"/>
                </a:solidFill>
                <a:latin typeface="Montserrat"/>
                <a:ea typeface="Montserrat"/>
                <a:cs typeface="Montserrat"/>
                <a:sym typeface="Montserrat"/>
              </a:rPr>
              <a:t>chu</a:t>
            </a:r>
            <a:r>
              <a:rPr lang="en-US" sz="3399">
                <a:solidFill>
                  <a:srgbClr val="ED1C24"/>
                </a:solidFill>
                <a:latin typeface="Montserrat"/>
                <a:ea typeface="Montserrat"/>
                <a:cs typeface="Montserrat"/>
                <a:sym typeface="Montserrat"/>
              </a:rPr>
              <a:t>rn = 1 means churn</a:t>
            </a:r>
            <a:r>
              <a:rPr lang="en-US" sz="3399">
                <a:solidFill>
                  <a:srgbClr val="000000"/>
                </a:solidFill>
                <a:latin typeface="Montserrat"/>
                <a:ea typeface="Montserrat"/>
                <a:cs typeface="Montserrat"/>
                <a:sym typeface="Montserrat"/>
              </a:rPr>
              <a:t>, is_churn = 0 means renewal.</a:t>
            </a:r>
          </a:p>
          <a:p>
            <a:pPr algn="l">
              <a:lnSpc>
                <a:spcPts val="4079"/>
              </a:lnSpc>
            </a:pPr>
          </a:p>
        </p:txBody>
      </p:sp>
      <p:sp>
        <p:nvSpPr>
          <p:cNvPr name="TextBox 5" id="5"/>
          <p:cNvSpPr txBox="true"/>
          <p:nvPr/>
        </p:nvSpPr>
        <p:spPr>
          <a:xfrm rot="0">
            <a:off x="569016" y="6691656"/>
            <a:ext cx="16690284" cy="1085850"/>
          </a:xfrm>
          <a:prstGeom prst="rect">
            <a:avLst/>
          </a:prstGeom>
        </p:spPr>
        <p:txBody>
          <a:bodyPr anchor="t" rtlCol="false" tIns="0" lIns="0" bIns="0" rIns="0">
            <a:spAutoFit/>
          </a:bodyPr>
          <a:lstStyle/>
          <a:p>
            <a:pPr algn="l">
              <a:lnSpc>
                <a:spcPts val="4320"/>
              </a:lnSpc>
              <a:spcBef>
                <a:spcPct val="0"/>
              </a:spcBef>
            </a:pPr>
            <a:r>
              <a:rPr lang="en-US" b="true" sz="3600">
                <a:solidFill>
                  <a:srgbClr val="0070C0"/>
                </a:solidFill>
                <a:latin typeface="Montserrat Bold"/>
                <a:ea typeface="Montserrat Bold"/>
                <a:cs typeface="Montserrat Bold"/>
                <a:sym typeface="Montserrat Bold"/>
              </a:rPr>
              <a:t>train_v2.csv</a:t>
            </a:r>
            <a:r>
              <a:rPr lang="en-US" sz="3600">
                <a:solidFill>
                  <a:srgbClr val="000000"/>
                </a:solidFill>
                <a:latin typeface="Montserrat"/>
                <a:ea typeface="Montserrat"/>
                <a:cs typeface="Montserrat"/>
                <a:sym typeface="Montserrat"/>
              </a:rPr>
              <a:t>: </a:t>
            </a:r>
            <a:r>
              <a:rPr lang="en-US" sz="3600">
                <a:solidFill>
                  <a:srgbClr val="000000"/>
                </a:solidFill>
                <a:latin typeface="Montserrat"/>
                <a:ea typeface="Montserrat"/>
                <a:cs typeface="Montserrat"/>
                <a:sym typeface="Montserrat"/>
              </a:rPr>
              <a:t>same format as train.csv, refreshed 11/06/2017, contains the churn data for March, 2017.</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398346" y="575945"/>
            <a:ext cx="10860954"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Data Overview</a:t>
            </a:r>
          </a:p>
        </p:txBody>
      </p:sp>
      <p:sp>
        <p:nvSpPr>
          <p:cNvPr name="TextBox 3" id="3"/>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b="true" sz="3599">
                <a:solidFill>
                  <a:srgbClr val="0070C0"/>
                </a:solidFill>
                <a:latin typeface="Montserrat Bold"/>
                <a:ea typeface="Montserrat Bold"/>
                <a:cs typeface="Montserrat Bold"/>
                <a:sym typeface="Montserrat Bold"/>
              </a:rPr>
              <a:t>members_v3.csv</a:t>
            </a:r>
          </a:p>
        </p:txBody>
      </p:sp>
      <p:sp>
        <p:nvSpPr>
          <p:cNvPr name="TextBox 4" id="4"/>
          <p:cNvSpPr txBox="true"/>
          <p:nvPr/>
        </p:nvSpPr>
        <p:spPr>
          <a:xfrm rot="0">
            <a:off x="569016" y="3072156"/>
            <a:ext cx="15865276" cy="5143500"/>
          </a:xfrm>
          <a:prstGeom prst="rect">
            <a:avLst/>
          </a:prstGeom>
        </p:spPr>
        <p:txBody>
          <a:bodyPr anchor="t" rtlCol="false" tIns="0" lIns="0" bIns="0" rIns="0">
            <a:spAutoFit/>
          </a:bodyPr>
          <a:lstStyle/>
          <a:p>
            <a:pPr algn="l">
              <a:lnSpc>
                <a:spcPts val="4079"/>
              </a:lnSpc>
              <a:spcBef>
                <a:spcPct val="0"/>
              </a:spcBef>
            </a:pPr>
            <a:r>
              <a:rPr lang="en-US" sz="3399">
                <a:solidFill>
                  <a:srgbClr val="000000"/>
                </a:solidFill>
                <a:latin typeface="Montserrat"/>
                <a:ea typeface="Montserrat"/>
                <a:cs typeface="Montserrat"/>
                <a:sym typeface="Montserrat"/>
              </a:rPr>
              <a:t>U</a:t>
            </a:r>
            <a:r>
              <a:rPr lang="en-US" sz="3399">
                <a:solidFill>
                  <a:srgbClr val="000000"/>
                </a:solidFill>
                <a:latin typeface="Montserrat"/>
                <a:ea typeface="Montserrat"/>
                <a:cs typeface="Montserrat"/>
                <a:sym typeface="Montserrat"/>
              </a:rPr>
              <a:t>ser information. Note that not every user in the dataset is available.</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msno</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city</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bd</a:t>
            </a:r>
            <a:r>
              <a:rPr lang="en-US" sz="3399">
                <a:solidFill>
                  <a:srgbClr val="000000"/>
                </a:solidFill>
                <a:latin typeface="Montserrat"/>
                <a:ea typeface="Montserrat"/>
                <a:cs typeface="Montserrat"/>
                <a:sym typeface="Montserrat"/>
              </a:rPr>
              <a:t>: age. Note: this column has outlier values ranging from -7000 to 2015, please use your judgement.</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gender</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registered_via</a:t>
            </a:r>
            <a:r>
              <a:rPr lang="en-US" sz="3399">
                <a:solidFill>
                  <a:srgbClr val="000000"/>
                </a:solidFill>
                <a:latin typeface="Montserrat"/>
                <a:ea typeface="Montserrat"/>
                <a:cs typeface="Montserrat"/>
                <a:sym typeface="Montserrat"/>
              </a:rPr>
              <a:t>: registration method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registration_init_time</a:t>
            </a:r>
            <a:r>
              <a:rPr lang="en-US" sz="3399">
                <a:solidFill>
                  <a:srgbClr val="000000"/>
                </a:solidFill>
                <a:latin typeface="Montserrat"/>
                <a:ea typeface="Montserrat"/>
                <a:cs typeface="Montserrat"/>
                <a:sym typeface="Montserrat"/>
              </a:rPr>
              <a:t>: format %Y%m%d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expiration_date</a:t>
            </a:r>
            <a:r>
              <a:rPr lang="en-US" sz="3399">
                <a:solidFill>
                  <a:srgbClr val="000000"/>
                </a:solidFill>
                <a:latin typeface="Montserrat"/>
                <a:ea typeface="Montserrat"/>
                <a:cs typeface="Montserrat"/>
                <a:sym typeface="Montserrat"/>
              </a:rPr>
              <a:t>: format %Y%m%d, taken as a snapshot at which the member.csv is extracted. Not representing the actual churn behavior.</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398346" y="575945"/>
            <a:ext cx="10860954"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Data Overview</a:t>
            </a:r>
          </a:p>
        </p:txBody>
      </p:sp>
      <p:sp>
        <p:nvSpPr>
          <p:cNvPr name="TextBox 3" id="3"/>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t</a:t>
            </a:r>
            <a:r>
              <a:rPr lang="en-US" b="true" sz="3599">
                <a:solidFill>
                  <a:srgbClr val="0070C0"/>
                </a:solidFill>
                <a:latin typeface="Montserrat Bold"/>
                <a:ea typeface="Montserrat Bold"/>
                <a:cs typeface="Montserrat Bold"/>
                <a:sym typeface="Montserrat Bold"/>
              </a:rPr>
              <a:t>ransactions.csv</a:t>
            </a:r>
          </a:p>
        </p:txBody>
      </p:sp>
      <p:sp>
        <p:nvSpPr>
          <p:cNvPr name="TextBox 4" id="4"/>
          <p:cNvSpPr txBox="true"/>
          <p:nvPr/>
        </p:nvSpPr>
        <p:spPr>
          <a:xfrm rot="0">
            <a:off x="569016" y="2726988"/>
            <a:ext cx="15865276" cy="6172200"/>
          </a:xfrm>
          <a:prstGeom prst="rect">
            <a:avLst/>
          </a:prstGeom>
        </p:spPr>
        <p:txBody>
          <a:bodyPr anchor="t" rtlCol="false" tIns="0" lIns="0" bIns="0" rIns="0">
            <a:spAutoFit/>
          </a:bodyPr>
          <a:lstStyle/>
          <a:p>
            <a:pPr algn="l">
              <a:lnSpc>
                <a:spcPts val="4079"/>
              </a:lnSpc>
              <a:spcBef>
                <a:spcPct val="0"/>
              </a:spcBef>
            </a:pPr>
            <a:r>
              <a:rPr lang="en-US" sz="3399">
                <a:solidFill>
                  <a:srgbClr val="000000"/>
                </a:solidFill>
                <a:latin typeface="Montserrat"/>
                <a:ea typeface="Montserrat"/>
                <a:cs typeface="Montserrat"/>
                <a:sym typeface="Montserrat"/>
              </a:rPr>
              <a:t>T</a:t>
            </a:r>
            <a:r>
              <a:rPr lang="en-US" sz="3399">
                <a:solidFill>
                  <a:srgbClr val="000000"/>
                </a:solidFill>
                <a:latin typeface="Montserrat"/>
                <a:ea typeface="Montserrat"/>
                <a:cs typeface="Montserrat"/>
                <a:sym typeface="Montserrat"/>
              </a:rPr>
              <a:t>ransactions of users up until 2/28/2017.</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msno</a:t>
            </a:r>
            <a:r>
              <a:rPr lang="en-US" sz="3399">
                <a:solidFill>
                  <a:srgbClr val="000000"/>
                </a:solidFill>
                <a:latin typeface="Montserrat"/>
                <a:ea typeface="Montserrat"/>
                <a:cs typeface="Montserrat"/>
                <a:sym typeface="Montserrat"/>
              </a:rPr>
              <a:t>: user id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payment_method_id</a:t>
            </a:r>
            <a:r>
              <a:rPr lang="en-US" sz="3399">
                <a:solidFill>
                  <a:srgbClr val="000000"/>
                </a:solidFill>
                <a:latin typeface="Montserrat"/>
                <a:ea typeface="Montserrat"/>
                <a:cs typeface="Montserrat"/>
                <a:sym typeface="Montserrat"/>
              </a:rPr>
              <a:t>: payment method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payment_plan_days</a:t>
            </a:r>
            <a:r>
              <a:rPr lang="en-US" sz="3399">
                <a:solidFill>
                  <a:srgbClr val="000000"/>
                </a:solidFill>
                <a:latin typeface="Montserrat"/>
                <a:ea typeface="Montserrat"/>
                <a:cs typeface="Montserrat"/>
                <a:sym typeface="Montserrat"/>
              </a:rPr>
              <a:t>: length of membership plan in days</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plan_list_price</a:t>
            </a:r>
            <a:r>
              <a:rPr lang="en-US" sz="3399">
                <a:solidFill>
                  <a:srgbClr val="000000"/>
                </a:solidFill>
                <a:latin typeface="Montserrat"/>
                <a:ea typeface="Montserrat"/>
                <a:cs typeface="Montserrat"/>
                <a:sym typeface="Montserrat"/>
              </a:rPr>
              <a:t>: in New Taiwan Dollar (NTD)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actual_amount_paid</a:t>
            </a:r>
            <a:r>
              <a:rPr lang="en-US" sz="3399">
                <a:solidFill>
                  <a:srgbClr val="000000"/>
                </a:solidFill>
                <a:latin typeface="Montserrat"/>
                <a:ea typeface="Montserrat"/>
                <a:cs typeface="Montserrat"/>
                <a:sym typeface="Montserrat"/>
              </a:rPr>
              <a:t>: </a:t>
            </a:r>
            <a:r>
              <a:rPr lang="en-US" sz="3399">
                <a:solidFill>
                  <a:srgbClr val="000000"/>
                </a:solidFill>
                <a:latin typeface="Montserrat"/>
                <a:ea typeface="Montserrat"/>
                <a:cs typeface="Montserrat"/>
                <a:sym typeface="Montserrat"/>
              </a:rPr>
              <a:t>i</a:t>
            </a:r>
            <a:r>
              <a:rPr lang="en-US" sz="3399">
                <a:solidFill>
                  <a:srgbClr val="000000"/>
                </a:solidFill>
                <a:latin typeface="Montserrat"/>
                <a:ea typeface="Montserrat"/>
                <a:cs typeface="Montserrat"/>
                <a:sym typeface="Montserrat"/>
              </a:rPr>
              <a:t>n N</a:t>
            </a:r>
            <a:r>
              <a:rPr lang="en-US" sz="3399">
                <a:solidFill>
                  <a:srgbClr val="000000"/>
                </a:solidFill>
                <a:latin typeface="Montserrat"/>
                <a:ea typeface="Montserrat"/>
                <a:cs typeface="Montserrat"/>
                <a:sym typeface="Montserrat"/>
              </a:rPr>
              <a:t>e</a:t>
            </a:r>
            <a:r>
              <a:rPr lang="en-US" sz="3399">
                <a:solidFill>
                  <a:srgbClr val="000000"/>
                </a:solidFill>
                <a:latin typeface="Montserrat"/>
                <a:ea typeface="Montserrat"/>
                <a:cs typeface="Montserrat"/>
                <a:sym typeface="Montserrat"/>
              </a:rPr>
              <a:t>w Ta</a:t>
            </a:r>
            <a:r>
              <a:rPr lang="en-US" sz="3399">
                <a:solidFill>
                  <a:srgbClr val="000000"/>
                </a:solidFill>
                <a:latin typeface="Montserrat"/>
                <a:ea typeface="Montserrat"/>
                <a:cs typeface="Montserrat"/>
                <a:sym typeface="Montserrat"/>
              </a:rPr>
              <a:t>i</a:t>
            </a:r>
            <a:r>
              <a:rPr lang="en-US" sz="3399">
                <a:solidFill>
                  <a:srgbClr val="000000"/>
                </a:solidFill>
                <a:latin typeface="Montserrat"/>
                <a:ea typeface="Montserrat"/>
                <a:cs typeface="Montserrat"/>
                <a:sym typeface="Montserrat"/>
              </a:rPr>
              <a:t>w</a:t>
            </a:r>
            <a:r>
              <a:rPr lang="en-US" sz="3399">
                <a:solidFill>
                  <a:srgbClr val="000000"/>
                </a:solidFill>
                <a:latin typeface="Montserrat"/>
                <a:ea typeface="Montserrat"/>
                <a:cs typeface="Montserrat"/>
                <a:sym typeface="Montserrat"/>
              </a:rPr>
              <a:t>a</a:t>
            </a:r>
            <a:r>
              <a:rPr lang="en-US" sz="3399">
                <a:solidFill>
                  <a:srgbClr val="000000"/>
                </a:solidFill>
                <a:latin typeface="Montserrat"/>
                <a:ea typeface="Montserrat"/>
                <a:cs typeface="Montserrat"/>
                <a:sym typeface="Montserrat"/>
              </a:rPr>
              <a:t>n</a:t>
            </a:r>
            <a:r>
              <a:rPr lang="en-US" sz="3399">
                <a:solidFill>
                  <a:srgbClr val="000000"/>
                </a:solidFill>
                <a:latin typeface="Montserrat"/>
                <a:ea typeface="Montserrat"/>
                <a:cs typeface="Montserrat"/>
                <a:sym typeface="Montserrat"/>
              </a:rPr>
              <a:t> Dollar (NTD)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is_auto_renew</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transaction_date</a:t>
            </a:r>
            <a:r>
              <a:rPr lang="en-US" sz="3399">
                <a:solidFill>
                  <a:srgbClr val="000000"/>
                </a:solidFill>
                <a:latin typeface="Montserrat"/>
                <a:ea typeface="Montserrat"/>
                <a:cs typeface="Montserrat"/>
                <a:sym typeface="Montserrat"/>
              </a:rPr>
              <a:t>: format %Y%m%d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membership_expire_date</a:t>
            </a:r>
            <a:r>
              <a:rPr lang="en-US" sz="3399">
                <a:solidFill>
                  <a:srgbClr val="000000"/>
                </a:solidFill>
                <a:latin typeface="Montserrat"/>
                <a:ea typeface="Montserrat"/>
                <a:cs typeface="Montserrat"/>
                <a:sym typeface="Montserrat"/>
              </a:rPr>
              <a:t>: format %Y%m%d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is_cancel</a:t>
            </a:r>
            <a:r>
              <a:rPr lang="en-US" sz="3399">
                <a:solidFill>
                  <a:srgbClr val="000000"/>
                </a:solidFill>
                <a:latin typeface="Montserrat"/>
                <a:ea typeface="Montserrat"/>
                <a:cs typeface="Montserrat"/>
                <a:sym typeface="Montserrat"/>
              </a:rPr>
              <a:t>: whether or not the user canceled the membership in this transaction.</a:t>
            </a:r>
          </a:p>
          <a:p>
            <a:pPr algn="l">
              <a:lnSpc>
                <a:spcPts val="4079"/>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398346" y="575945"/>
            <a:ext cx="10860954"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Data Overview</a:t>
            </a:r>
          </a:p>
        </p:txBody>
      </p:sp>
      <p:sp>
        <p:nvSpPr>
          <p:cNvPr name="TextBox 3" id="3"/>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u</a:t>
            </a:r>
            <a:r>
              <a:rPr lang="en-US" b="true" sz="3599">
                <a:solidFill>
                  <a:srgbClr val="0070C0"/>
                </a:solidFill>
                <a:latin typeface="Montserrat Bold"/>
                <a:ea typeface="Montserrat Bold"/>
                <a:cs typeface="Montserrat Bold"/>
                <a:sym typeface="Montserrat Bold"/>
              </a:rPr>
              <a:t>ser_logs.csv</a:t>
            </a:r>
          </a:p>
        </p:txBody>
      </p:sp>
      <p:sp>
        <p:nvSpPr>
          <p:cNvPr name="TextBox 4" id="4"/>
          <p:cNvSpPr txBox="true"/>
          <p:nvPr/>
        </p:nvSpPr>
        <p:spPr>
          <a:xfrm rot="0">
            <a:off x="569016" y="2726988"/>
            <a:ext cx="15865276" cy="6686550"/>
          </a:xfrm>
          <a:prstGeom prst="rect">
            <a:avLst/>
          </a:prstGeom>
        </p:spPr>
        <p:txBody>
          <a:bodyPr anchor="t" rtlCol="false" tIns="0" lIns="0" bIns="0" rIns="0">
            <a:spAutoFit/>
          </a:bodyPr>
          <a:lstStyle/>
          <a:p>
            <a:pPr algn="l">
              <a:lnSpc>
                <a:spcPts val="4079"/>
              </a:lnSpc>
              <a:spcBef>
                <a:spcPct val="0"/>
              </a:spcBef>
            </a:pPr>
            <a:r>
              <a:rPr lang="en-US" sz="3399">
                <a:solidFill>
                  <a:srgbClr val="000000"/>
                </a:solidFill>
                <a:latin typeface="Montserrat"/>
                <a:ea typeface="Montserrat"/>
                <a:cs typeface="Montserrat"/>
                <a:sym typeface="Montserrat"/>
              </a:rPr>
              <a:t>D</a:t>
            </a:r>
            <a:r>
              <a:rPr lang="en-US" sz="3399">
                <a:solidFill>
                  <a:srgbClr val="000000"/>
                </a:solidFill>
                <a:latin typeface="Montserrat"/>
                <a:ea typeface="Montserrat"/>
                <a:cs typeface="Montserrat"/>
                <a:sym typeface="Montserrat"/>
              </a:rPr>
              <a:t>aily user logs describing listening behaviors of a user. Data collected until 2/28/2017.</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msno</a:t>
            </a:r>
            <a:r>
              <a:rPr lang="en-US" sz="3399">
                <a:solidFill>
                  <a:srgbClr val="000000"/>
                </a:solidFill>
                <a:latin typeface="Montserrat"/>
                <a:ea typeface="Montserrat"/>
                <a:cs typeface="Montserrat"/>
                <a:sym typeface="Montserrat"/>
              </a:rPr>
              <a:t>: user id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date</a:t>
            </a:r>
            <a:r>
              <a:rPr lang="en-US" sz="3399">
                <a:solidFill>
                  <a:srgbClr val="000000"/>
                </a:solidFill>
                <a:latin typeface="Montserrat"/>
                <a:ea typeface="Montserrat"/>
                <a:cs typeface="Montserrat"/>
                <a:sym typeface="Montserrat"/>
              </a:rPr>
              <a:t>: format %Y%m%d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num_25</a:t>
            </a:r>
            <a:r>
              <a:rPr lang="en-US" sz="3399">
                <a:solidFill>
                  <a:srgbClr val="000000"/>
                </a:solidFill>
                <a:latin typeface="Montserrat"/>
                <a:ea typeface="Montserrat"/>
                <a:cs typeface="Montserrat"/>
                <a:sym typeface="Montserrat"/>
              </a:rPr>
              <a:t>: # of songs played less than 25% of the song length</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num_50</a:t>
            </a:r>
            <a:r>
              <a:rPr lang="en-US" sz="3399">
                <a:solidFill>
                  <a:srgbClr val="000000"/>
                </a:solidFill>
                <a:latin typeface="Montserrat"/>
                <a:ea typeface="Montserrat"/>
                <a:cs typeface="Montserrat"/>
                <a:sym typeface="Montserrat"/>
              </a:rPr>
              <a:t>: # of songs played between 25% to 50% of the song length</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num_75</a:t>
            </a:r>
            <a:r>
              <a:rPr lang="en-US" sz="3399">
                <a:solidFill>
                  <a:srgbClr val="000000"/>
                </a:solidFill>
                <a:latin typeface="Montserrat"/>
                <a:ea typeface="Montserrat"/>
                <a:cs typeface="Montserrat"/>
                <a:sym typeface="Montserrat"/>
              </a:rPr>
              <a:t>: # of songs played between 50% to 75% of of the song length</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num_985</a:t>
            </a:r>
            <a:r>
              <a:rPr lang="en-US" sz="3399">
                <a:solidFill>
                  <a:srgbClr val="000000"/>
                </a:solidFill>
                <a:latin typeface="Montserrat"/>
                <a:ea typeface="Montserrat"/>
                <a:cs typeface="Montserrat"/>
                <a:sym typeface="Montserrat"/>
              </a:rPr>
              <a:t>: # of songs played between 75% to 98.5% of the song length</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num_100</a:t>
            </a:r>
            <a:r>
              <a:rPr lang="en-US" sz="3399">
                <a:solidFill>
                  <a:srgbClr val="000000"/>
                </a:solidFill>
                <a:latin typeface="Montserrat"/>
                <a:ea typeface="Montserrat"/>
                <a:cs typeface="Montserrat"/>
                <a:sym typeface="Montserrat"/>
              </a:rPr>
              <a:t>: # of songs played over 98.5% of the song length</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num_unq</a:t>
            </a:r>
            <a:r>
              <a:rPr lang="en-US" sz="3399">
                <a:solidFill>
                  <a:srgbClr val="000000"/>
                </a:solidFill>
                <a:latin typeface="Montserrat"/>
                <a:ea typeface="Montserrat"/>
                <a:cs typeface="Montserrat"/>
                <a:sym typeface="Montserrat"/>
              </a:rPr>
              <a:t>: # of unique songs played</a:t>
            </a:r>
          </a:p>
          <a:p>
            <a:pPr algn="l" marL="734051" indent="-367026" lvl="1">
              <a:lnSpc>
                <a:spcPts val="4079"/>
              </a:lnSpc>
              <a:buFont typeface="Arial"/>
              <a:buChar char="•"/>
            </a:pPr>
            <a:r>
              <a:rPr lang="en-US" b="true" sz="3399">
                <a:solidFill>
                  <a:srgbClr val="000000"/>
                </a:solidFill>
                <a:latin typeface="Montserrat Bold"/>
                <a:ea typeface="Montserrat Bold"/>
                <a:cs typeface="Montserrat Bold"/>
                <a:sym typeface="Montserrat Bold"/>
              </a:rPr>
              <a:t>total_secs</a:t>
            </a:r>
            <a:r>
              <a:rPr lang="en-US" sz="3399">
                <a:solidFill>
                  <a:srgbClr val="000000"/>
                </a:solidFill>
                <a:latin typeface="Montserrat"/>
                <a:ea typeface="Montserrat"/>
                <a:cs typeface="Montserrat"/>
                <a:sym typeface="Montserrat"/>
              </a:rPr>
              <a:t>: total seconds played</a:t>
            </a:r>
          </a:p>
          <a:p>
            <a:pPr algn="l">
              <a:lnSpc>
                <a:spcPts val="4079"/>
              </a:lnSpc>
            </a:pPr>
          </a:p>
          <a:p>
            <a:pPr algn="l">
              <a:lnSpc>
                <a:spcPts val="407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99680" y="-1470403"/>
            <a:ext cx="14026196" cy="11628992"/>
          </a:xfrm>
          <a:custGeom>
            <a:avLst/>
            <a:gdLst/>
            <a:ahLst/>
            <a:cxnLst/>
            <a:rect r="r" b="b" t="t" l="l"/>
            <a:pathLst>
              <a:path h="11628992" w="14026196">
                <a:moveTo>
                  <a:pt x="0" y="0"/>
                </a:moveTo>
                <a:lnTo>
                  <a:pt x="14026196" y="0"/>
                </a:lnTo>
                <a:lnTo>
                  <a:pt x="14026196" y="11628992"/>
                </a:lnTo>
                <a:lnTo>
                  <a:pt x="0" y="11628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40046" y="4034946"/>
            <a:ext cx="14207909" cy="2217107"/>
            <a:chOff x="0" y="0"/>
            <a:chExt cx="18943878" cy="2956143"/>
          </a:xfrm>
        </p:grpSpPr>
        <p:sp>
          <p:nvSpPr>
            <p:cNvPr name="TextBox 4" id="4"/>
            <p:cNvSpPr txBox="true"/>
            <p:nvPr/>
          </p:nvSpPr>
          <p:spPr>
            <a:xfrm rot="0">
              <a:off x="0" y="0"/>
              <a:ext cx="18943878" cy="1727200"/>
            </a:xfrm>
            <a:prstGeom prst="rect">
              <a:avLst/>
            </a:prstGeom>
          </p:spPr>
          <p:txBody>
            <a:bodyPr anchor="t" rtlCol="false" tIns="0" lIns="0" bIns="0" rIns="0">
              <a:spAutoFit/>
            </a:bodyPr>
            <a:lstStyle/>
            <a:p>
              <a:pPr algn="ctr" marL="0" indent="0" lvl="0">
                <a:lnSpc>
                  <a:spcPts val="10200"/>
                </a:lnSpc>
                <a:spcBef>
                  <a:spcPct val="0"/>
                </a:spcBef>
              </a:pPr>
              <a:r>
                <a:rPr lang="en-US" b="true" sz="8500">
                  <a:solidFill>
                    <a:srgbClr val="000000"/>
                  </a:solidFill>
                  <a:latin typeface="Muli Bold"/>
                  <a:ea typeface="Muli Bold"/>
                  <a:cs typeface="Muli Bold"/>
                  <a:sym typeface="Muli Bold"/>
                </a:rPr>
                <a:t>Exploratory Data Analysis</a:t>
              </a:r>
            </a:p>
          </p:txBody>
        </p:sp>
        <p:sp>
          <p:nvSpPr>
            <p:cNvPr name="TextBox 5" id="5"/>
            <p:cNvSpPr txBox="true"/>
            <p:nvPr/>
          </p:nvSpPr>
          <p:spPr>
            <a:xfrm rot="0">
              <a:off x="0" y="2317968"/>
              <a:ext cx="18943878" cy="638175"/>
            </a:xfrm>
            <a:prstGeom prst="rect">
              <a:avLst/>
            </a:prstGeom>
          </p:spPr>
          <p:txBody>
            <a:bodyPr anchor="t" rtlCol="false" tIns="0" lIns="0" bIns="0" rIns="0">
              <a:spAutoFit/>
            </a:bodyPr>
            <a:lstStyle/>
            <a:p>
              <a:pPr algn="ctr">
                <a:lnSpc>
                  <a:spcPts val="3900"/>
                </a:lnSpc>
              </a:pPr>
              <a:r>
                <a:rPr lang="en-US" sz="3000">
                  <a:solidFill>
                    <a:srgbClr val="000000"/>
                  </a:solidFill>
                  <a:latin typeface="Muli"/>
                  <a:ea typeface="Muli"/>
                  <a:cs typeface="Muli"/>
                  <a:sym typeface="Muli"/>
                </a:rPr>
                <a:t>Understand Data, Data Quality Checks, Challenges Associated With Data</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4571" y="4107348"/>
            <a:ext cx="7711907" cy="3544361"/>
          </a:xfrm>
          <a:custGeom>
            <a:avLst/>
            <a:gdLst/>
            <a:ahLst/>
            <a:cxnLst/>
            <a:rect r="r" b="b" t="t" l="l"/>
            <a:pathLst>
              <a:path h="3544361" w="7711907">
                <a:moveTo>
                  <a:pt x="0" y="0"/>
                </a:moveTo>
                <a:lnTo>
                  <a:pt x="7711906" y="0"/>
                </a:lnTo>
                <a:lnTo>
                  <a:pt x="7711906" y="3544361"/>
                </a:lnTo>
                <a:lnTo>
                  <a:pt x="0" y="3544361"/>
                </a:lnTo>
                <a:lnTo>
                  <a:pt x="0" y="0"/>
                </a:lnTo>
                <a:close/>
              </a:path>
            </a:pathLst>
          </a:custGeom>
          <a:blipFill>
            <a:blip r:embed="rId2"/>
            <a:stretch>
              <a:fillRect l="0" t="0" r="0" b="0"/>
            </a:stretch>
          </a:blipFill>
        </p:spPr>
      </p:sp>
      <p:sp>
        <p:nvSpPr>
          <p:cNvPr name="Freeform 3" id="3"/>
          <p:cNvSpPr/>
          <p:nvPr/>
        </p:nvSpPr>
        <p:spPr>
          <a:xfrm flipH="false" flipV="false" rot="0">
            <a:off x="9144000" y="2536488"/>
            <a:ext cx="8025683" cy="5823286"/>
          </a:xfrm>
          <a:custGeom>
            <a:avLst/>
            <a:gdLst/>
            <a:ahLst/>
            <a:cxnLst/>
            <a:rect r="r" b="b" t="t" l="l"/>
            <a:pathLst>
              <a:path h="5823286" w="8025683">
                <a:moveTo>
                  <a:pt x="0" y="0"/>
                </a:moveTo>
                <a:lnTo>
                  <a:pt x="8025683" y="0"/>
                </a:lnTo>
                <a:lnTo>
                  <a:pt x="8025683" y="5823286"/>
                </a:lnTo>
                <a:lnTo>
                  <a:pt x="0" y="5823286"/>
                </a:lnTo>
                <a:lnTo>
                  <a:pt x="0" y="0"/>
                </a:lnTo>
                <a:close/>
              </a:path>
            </a:pathLst>
          </a:custGeom>
          <a:blipFill>
            <a:blip r:embed="rId3"/>
            <a:stretch>
              <a:fillRect l="0" t="0" r="0" b="0"/>
            </a:stretch>
          </a:blipFill>
        </p:spPr>
      </p:sp>
      <p:sp>
        <p:nvSpPr>
          <p:cNvPr name="TextBox 4" id="4"/>
          <p:cNvSpPr txBox="true"/>
          <p:nvPr/>
        </p:nvSpPr>
        <p:spPr>
          <a:xfrm rot="0">
            <a:off x="4080524" y="575945"/>
            <a:ext cx="13589530"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Exploratory Data Analysis</a:t>
            </a:r>
          </a:p>
        </p:txBody>
      </p:sp>
      <p:sp>
        <p:nvSpPr>
          <p:cNvPr name="TextBox 5" id="5"/>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member_v3</a:t>
            </a:r>
          </a:p>
        </p:txBody>
      </p:sp>
      <p:sp>
        <p:nvSpPr>
          <p:cNvPr name="TextBox 6" id="6"/>
          <p:cNvSpPr txBox="true"/>
          <p:nvPr/>
        </p:nvSpPr>
        <p:spPr>
          <a:xfrm rot="0">
            <a:off x="1028700" y="8848725"/>
            <a:ext cx="6016821" cy="409575"/>
          </a:xfrm>
          <a:prstGeom prst="rect">
            <a:avLst/>
          </a:prstGeom>
        </p:spPr>
        <p:txBody>
          <a:bodyPr anchor="t" rtlCol="false" tIns="0" lIns="0" bIns="0" rIns="0">
            <a:spAutoFit/>
          </a:bodyPr>
          <a:lstStyle/>
          <a:p>
            <a:pPr algn="l">
              <a:lnSpc>
                <a:spcPts val="3359"/>
              </a:lnSpc>
              <a:spcBef>
                <a:spcPct val="0"/>
              </a:spcBef>
            </a:pPr>
            <a:r>
              <a:rPr lang="en-US" b="true" sz="2799">
                <a:solidFill>
                  <a:srgbClr val="ED1C24"/>
                </a:solidFill>
                <a:latin typeface="Montserrat Bold"/>
                <a:ea typeface="Montserrat Bold"/>
                <a:cs typeface="Montserrat Bold"/>
                <a:sym typeface="Montserrat Bold"/>
              </a:rPr>
              <a:t>null values: gender</a:t>
            </a:r>
          </a:p>
        </p:txBody>
      </p:sp>
      <p:sp>
        <p:nvSpPr>
          <p:cNvPr name="TextBox 7" id="7"/>
          <p:cNvSpPr txBox="true"/>
          <p:nvPr/>
        </p:nvSpPr>
        <p:spPr>
          <a:xfrm rot="0">
            <a:off x="10455652" y="8848725"/>
            <a:ext cx="6016821" cy="409575"/>
          </a:xfrm>
          <a:prstGeom prst="rect">
            <a:avLst/>
          </a:prstGeom>
        </p:spPr>
        <p:txBody>
          <a:bodyPr anchor="t" rtlCol="false" tIns="0" lIns="0" bIns="0" rIns="0">
            <a:spAutoFit/>
          </a:bodyPr>
          <a:lstStyle/>
          <a:p>
            <a:pPr algn="l">
              <a:lnSpc>
                <a:spcPts val="3359"/>
              </a:lnSpc>
              <a:spcBef>
                <a:spcPct val="0"/>
              </a:spcBef>
            </a:pPr>
            <a:r>
              <a:rPr lang="en-US" b="true" sz="2799">
                <a:solidFill>
                  <a:srgbClr val="ED1C24"/>
                </a:solidFill>
                <a:latin typeface="Montserrat Bold"/>
                <a:ea typeface="Montserrat Bold"/>
                <a:cs typeface="Montserrat Bold"/>
                <a:sym typeface="Montserrat Bold"/>
              </a:rPr>
              <a:t>Univariate analysis for gender</a:t>
            </a:r>
          </a:p>
        </p:txBody>
      </p:sp>
      <p:sp>
        <p:nvSpPr>
          <p:cNvPr name="TextBox 8" id="8"/>
          <p:cNvSpPr txBox="true"/>
          <p:nvPr/>
        </p:nvSpPr>
        <p:spPr>
          <a:xfrm rot="0">
            <a:off x="0" y="2936165"/>
            <a:ext cx="5573658" cy="361950"/>
          </a:xfrm>
          <a:prstGeom prst="rect">
            <a:avLst/>
          </a:prstGeom>
        </p:spPr>
        <p:txBody>
          <a:bodyPr anchor="t" rtlCol="false" tIns="0" lIns="0" bIns="0" rIns="0">
            <a:spAutoFit/>
          </a:bodyPr>
          <a:lstStyle/>
          <a:p>
            <a:pPr algn="ctr">
              <a:lnSpc>
                <a:spcPts val="2999"/>
              </a:lnSpc>
              <a:spcBef>
                <a:spcPct val="0"/>
              </a:spcBef>
            </a:pPr>
            <a:r>
              <a:rPr lang="en-US" sz="2499">
                <a:solidFill>
                  <a:srgbClr val="000000"/>
                </a:solidFill>
                <a:latin typeface="Montserrat"/>
                <a:ea typeface="Montserrat"/>
                <a:cs typeface="Montserrat"/>
                <a:sym typeface="Montserrat"/>
              </a:rPr>
              <a:t>6,769,473 rows × 6 columns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3222" y="2557349"/>
            <a:ext cx="6814603" cy="5172303"/>
          </a:xfrm>
          <a:custGeom>
            <a:avLst/>
            <a:gdLst/>
            <a:ahLst/>
            <a:cxnLst/>
            <a:rect r="r" b="b" t="t" l="l"/>
            <a:pathLst>
              <a:path h="5172303" w="6814603">
                <a:moveTo>
                  <a:pt x="0" y="0"/>
                </a:moveTo>
                <a:lnTo>
                  <a:pt x="6814603" y="0"/>
                </a:lnTo>
                <a:lnTo>
                  <a:pt x="6814603" y="5172302"/>
                </a:lnTo>
                <a:lnTo>
                  <a:pt x="0" y="5172302"/>
                </a:lnTo>
                <a:lnTo>
                  <a:pt x="0" y="0"/>
                </a:lnTo>
                <a:close/>
              </a:path>
            </a:pathLst>
          </a:custGeom>
          <a:blipFill>
            <a:blip r:embed="rId2"/>
            <a:stretch>
              <a:fillRect l="0" t="0" r="0" b="0"/>
            </a:stretch>
          </a:blipFill>
        </p:spPr>
      </p:sp>
      <p:sp>
        <p:nvSpPr>
          <p:cNvPr name="TextBox 3" id="3"/>
          <p:cNvSpPr txBox="true"/>
          <p:nvPr/>
        </p:nvSpPr>
        <p:spPr>
          <a:xfrm rot="0">
            <a:off x="4080524" y="575945"/>
            <a:ext cx="13589530"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Exploratory Data Analysis</a:t>
            </a:r>
          </a:p>
        </p:txBody>
      </p:sp>
      <p:sp>
        <p:nvSpPr>
          <p:cNvPr name="TextBox 4" id="4"/>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member_v3</a:t>
            </a:r>
          </a:p>
        </p:txBody>
      </p:sp>
      <p:sp>
        <p:nvSpPr>
          <p:cNvPr name="TextBox 5" id="5"/>
          <p:cNvSpPr txBox="true"/>
          <p:nvPr/>
        </p:nvSpPr>
        <p:spPr>
          <a:xfrm rot="0">
            <a:off x="11866636" y="7994050"/>
            <a:ext cx="6016821" cy="409575"/>
          </a:xfrm>
          <a:prstGeom prst="rect">
            <a:avLst/>
          </a:prstGeom>
        </p:spPr>
        <p:txBody>
          <a:bodyPr anchor="t" rtlCol="false" tIns="0" lIns="0" bIns="0" rIns="0">
            <a:spAutoFit/>
          </a:bodyPr>
          <a:lstStyle/>
          <a:p>
            <a:pPr algn="l">
              <a:lnSpc>
                <a:spcPts val="3359"/>
              </a:lnSpc>
              <a:spcBef>
                <a:spcPct val="0"/>
              </a:spcBef>
            </a:pPr>
            <a:r>
              <a:rPr lang="en-US" b="true" sz="2799">
                <a:solidFill>
                  <a:srgbClr val="ED1C24"/>
                </a:solidFill>
                <a:latin typeface="Montserrat Bold"/>
                <a:ea typeface="Montserrat Bold"/>
                <a:cs typeface="Montserrat Bold"/>
                <a:sym typeface="Montserrat Bold"/>
              </a:rPr>
              <a:t>percentile “bd age”</a:t>
            </a:r>
          </a:p>
        </p:txBody>
      </p:sp>
      <p:sp>
        <p:nvSpPr>
          <p:cNvPr name="TextBox 6" id="6"/>
          <p:cNvSpPr txBox="true"/>
          <p:nvPr/>
        </p:nvSpPr>
        <p:spPr>
          <a:xfrm rot="0">
            <a:off x="11866636" y="2754172"/>
            <a:ext cx="4035028" cy="4600575"/>
          </a:xfrm>
          <a:prstGeom prst="rect">
            <a:avLst/>
          </a:prstGeom>
        </p:spPr>
        <p:txBody>
          <a:bodyPr anchor="t" rtlCol="false" tIns="0" lIns="0" bIns="0" rIns="0">
            <a:spAutoFit/>
          </a:bodyPr>
          <a:lstStyle/>
          <a:p>
            <a:pPr algn="l">
              <a:lnSpc>
                <a:spcPts val="3359"/>
              </a:lnSpc>
              <a:spcBef>
                <a:spcPct val="0"/>
              </a:spcBef>
            </a:pPr>
            <a:r>
              <a:rPr lang="en-US" sz="2799">
                <a:solidFill>
                  <a:srgbClr val="000000"/>
                </a:solidFill>
                <a:latin typeface="Montserrat"/>
                <a:ea typeface="Montserrat"/>
                <a:cs typeface="Montserrat"/>
                <a:sym typeface="Montserrat"/>
              </a:rPr>
              <a:t>percentile 0 is -7168.0</a:t>
            </a:r>
          </a:p>
          <a:p>
            <a:pPr algn="l">
              <a:lnSpc>
                <a:spcPts val="3359"/>
              </a:lnSpc>
              <a:spcBef>
                <a:spcPct val="0"/>
              </a:spcBef>
            </a:pPr>
            <a:r>
              <a:rPr lang="en-US" sz="2799">
                <a:solidFill>
                  <a:srgbClr val="000000"/>
                </a:solidFill>
                <a:latin typeface="Montserrat"/>
                <a:ea typeface="Montserrat"/>
                <a:cs typeface="Montserrat"/>
                <a:sym typeface="Montserrat"/>
              </a:rPr>
              <a:t>percentile 10 is 0.0</a:t>
            </a:r>
          </a:p>
          <a:p>
            <a:pPr algn="l">
              <a:lnSpc>
                <a:spcPts val="3359"/>
              </a:lnSpc>
              <a:spcBef>
                <a:spcPct val="0"/>
              </a:spcBef>
            </a:pPr>
            <a:r>
              <a:rPr lang="en-US" sz="2799">
                <a:solidFill>
                  <a:srgbClr val="000000"/>
                </a:solidFill>
                <a:latin typeface="Montserrat"/>
                <a:ea typeface="Montserrat"/>
                <a:cs typeface="Montserrat"/>
                <a:sym typeface="Montserrat"/>
              </a:rPr>
              <a:t>percentile 20 is 0.0</a:t>
            </a:r>
          </a:p>
          <a:p>
            <a:pPr algn="l">
              <a:lnSpc>
                <a:spcPts val="3359"/>
              </a:lnSpc>
              <a:spcBef>
                <a:spcPct val="0"/>
              </a:spcBef>
            </a:pPr>
            <a:r>
              <a:rPr lang="en-US" sz="2799">
                <a:solidFill>
                  <a:srgbClr val="000000"/>
                </a:solidFill>
                <a:latin typeface="Montserrat"/>
                <a:ea typeface="Montserrat"/>
                <a:cs typeface="Montserrat"/>
                <a:sym typeface="Montserrat"/>
              </a:rPr>
              <a:t>percentile 30 is 0.0</a:t>
            </a:r>
          </a:p>
          <a:p>
            <a:pPr algn="l">
              <a:lnSpc>
                <a:spcPts val="3359"/>
              </a:lnSpc>
              <a:spcBef>
                <a:spcPct val="0"/>
              </a:spcBef>
            </a:pPr>
            <a:r>
              <a:rPr lang="en-US" sz="2799">
                <a:solidFill>
                  <a:srgbClr val="000000"/>
                </a:solidFill>
                <a:latin typeface="Montserrat"/>
                <a:ea typeface="Montserrat"/>
                <a:cs typeface="Montserrat"/>
                <a:sym typeface="Montserrat"/>
              </a:rPr>
              <a:t>percentile 40 is 0.0</a:t>
            </a:r>
          </a:p>
          <a:p>
            <a:pPr algn="l">
              <a:lnSpc>
                <a:spcPts val="3359"/>
              </a:lnSpc>
              <a:spcBef>
                <a:spcPct val="0"/>
              </a:spcBef>
            </a:pPr>
            <a:r>
              <a:rPr lang="en-US" sz="2799">
                <a:solidFill>
                  <a:srgbClr val="000000"/>
                </a:solidFill>
                <a:latin typeface="Montserrat"/>
                <a:ea typeface="Montserrat"/>
                <a:cs typeface="Montserrat"/>
                <a:sym typeface="Montserrat"/>
              </a:rPr>
              <a:t>percentile 50 is 0.0</a:t>
            </a:r>
          </a:p>
          <a:p>
            <a:pPr algn="l">
              <a:lnSpc>
                <a:spcPts val="3359"/>
              </a:lnSpc>
              <a:spcBef>
                <a:spcPct val="0"/>
              </a:spcBef>
            </a:pPr>
            <a:r>
              <a:rPr lang="en-US" sz="2799">
                <a:solidFill>
                  <a:srgbClr val="000000"/>
                </a:solidFill>
                <a:latin typeface="Montserrat"/>
                <a:ea typeface="Montserrat"/>
                <a:cs typeface="Montserrat"/>
                <a:sym typeface="Montserrat"/>
              </a:rPr>
              <a:t>percentile 60 is 0.0</a:t>
            </a:r>
          </a:p>
          <a:p>
            <a:pPr algn="l">
              <a:lnSpc>
                <a:spcPts val="3359"/>
              </a:lnSpc>
              <a:spcBef>
                <a:spcPct val="0"/>
              </a:spcBef>
            </a:pPr>
            <a:r>
              <a:rPr lang="en-US" sz="2799">
                <a:solidFill>
                  <a:srgbClr val="000000"/>
                </a:solidFill>
                <a:latin typeface="Montserrat"/>
                <a:ea typeface="Montserrat"/>
                <a:cs typeface="Montserrat"/>
                <a:sym typeface="Montserrat"/>
              </a:rPr>
              <a:t>percentile 70 is 18.0</a:t>
            </a:r>
          </a:p>
          <a:p>
            <a:pPr algn="l">
              <a:lnSpc>
                <a:spcPts val="3359"/>
              </a:lnSpc>
              <a:spcBef>
                <a:spcPct val="0"/>
              </a:spcBef>
            </a:pPr>
            <a:r>
              <a:rPr lang="en-US" sz="2799">
                <a:solidFill>
                  <a:srgbClr val="000000"/>
                </a:solidFill>
                <a:latin typeface="Montserrat"/>
                <a:ea typeface="Montserrat"/>
                <a:cs typeface="Montserrat"/>
                <a:sym typeface="Montserrat"/>
              </a:rPr>
              <a:t>percentile 80 is 25.0</a:t>
            </a:r>
          </a:p>
          <a:p>
            <a:pPr algn="l">
              <a:lnSpc>
                <a:spcPts val="3359"/>
              </a:lnSpc>
              <a:spcBef>
                <a:spcPct val="0"/>
              </a:spcBef>
            </a:pPr>
            <a:r>
              <a:rPr lang="en-US" sz="2799">
                <a:solidFill>
                  <a:srgbClr val="000000"/>
                </a:solidFill>
                <a:latin typeface="Montserrat"/>
                <a:ea typeface="Montserrat"/>
                <a:cs typeface="Montserrat"/>
                <a:sym typeface="Montserrat"/>
              </a:rPr>
              <a:t>percentile 90 is 33.0</a:t>
            </a:r>
          </a:p>
          <a:p>
            <a:pPr algn="l">
              <a:lnSpc>
                <a:spcPts val="3359"/>
              </a:lnSpc>
              <a:spcBef>
                <a:spcPct val="0"/>
              </a:spcBef>
            </a:pPr>
            <a:r>
              <a:rPr lang="en-US" sz="2799">
                <a:solidFill>
                  <a:srgbClr val="000000"/>
                </a:solidFill>
                <a:latin typeface="Montserrat"/>
                <a:ea typeface="Montserrat"/>
                <a:cs typeface="Montserrat"/>
                <a:sym typeface="Montserrat"/>
              </a:rPr>
              <a:t>percentile 100 is 2016.0</a:t>
            </a:r>
          </a:p>
        </p:txBody>
      </p:sp>
      <p:sp>
        <p:nvSpPr>
          <p:cNvPr name="TextBox 7" id="7"/>
          <p:cNvSpPr txBox="true"/>
          <p:nvPr/>
        </p:nvSpPr>
        <p:spPr>
          <a:xfrm rot="0">
            <a:off x="1072113" y="7929676"/>
            <a:ext cx="6016821" cy="409575"/>
          </a:xfrm>
          <a:prstGeom prst="rect">
            <a:avLst/>
          </a:prstGeom>
        </p:spPr>
        <p:txBody>
          <a:bodyPr anchor="t" rtlCol="false" tIns="0" lIns="0" bIns="0" rIns="0">
            <a:spAutoFit/>
          </a:bodyPr>
          <a:lstStyle/>
          <a:p>
            <a:pPr algn="l">
              <a:lnSpc>
                <a:spcPts val="3359"/>
              </a:lnSpc>
              <a:spcBef>
                <a:spcPct val="0"/>
              </a:spcBef>
            </a:pPr>
            <a:r>
              <a:rPr lang="en-US" b="true" sz="2799">
                <a:solidFill>
                  <a:srgbClr val="ED1C24"/>
                </a:solidFill>
                <a:latin typeface="Montserrat Bold"/>
                <a:ea typeface="Montserrat Bold"/>
                <a:cs typeface="Montserrat Bold"/>
                <a:sym typeface="Montserrat Bold"/>
              </a:rPr>
              <a:t>boxplot “bd age”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9016" y="2792367"/>
            <a:ext cx="8327027" cy="5611258"/>
          </a:xfrm>
          <a:custGeom>
            <a:avLst/>
            <a:gdLst/>
            <a:ahLst/>
            <a:cxnLst/>
            <a:rect r="r" b="b" t="t" l="l"/>
            <a:pathLst>
              <a:path h="5611258" w="8327027">
                <a:moveTo>
                  <a:pt x="0" y="0"/>
                </a:moveTo>
                <a:lnTo>
                  <a:pt x="8327027" y="0"/>
                </a:lnTo>
                <a:lnTo>
                  <a:pt x="8327027" y="5611258"/>
                </a:lnTo>
                <a:lnTo>
                  <a:pt x="0" y="5611258"/>
                </a:lnTo>
                <a:lnTo>
                  <a:pt x="0" y="0"/>
                </a:lnTo>
                <a:close/>
              </a:path>
            </a:pathLst>
          </a:custGeom>
          <a:blipFill>
            <a:blip r:embed="rId2"/>
            <a:stretch>
              <a:fillRect l="0" t="0" r="0" b="0"/>
            </a:stretch>
          </a:blipFill>
        </p:spPr>
      </p:sp>
      <p:sp>
        <p:nvSpPr>
          <p:cNvPr name="Freeform 3" id="3"/>
          <p:cNvSpPr/>
          <p:nvPr/>
        </p:nvSpPr>
        <p:spPr>
          <a:xfrm flipH="false" flipV="false" rot="0">
            <a:off x="10101837" y="2982199"/>
            <a:ext cx="7781620" cy="5211876"/>
          </a:xfrm>
          <a:custGeom>
            <a:avLst/>
            <a:gdLst/>
            <a:ahLst/>
            <a:cxnLst/>
            <a:rect r="r" b="b" t="t" l="l"/>
            <a:pathLst>
              <a:path h="5211876" w="7781620">
                <a:moveTo>
                  <a:pt x="0" y="0"/>
                </a:moveTo>
                <a:lnTo>
                  <a:pt x="7781620" y="0"/>
                </a:lnTo>
                <a:lnTo>
                  <a:pt x="7781620" y="5211876"/>
                </a:lnTo>
                <a:lnTo>
                  <a:pt x="0" y="5211876"/>
                </a:lnTo>
                <a:lnTo>
                  <a:pt x="0" y="0"/>
                </a:lnTo>
                <a:close/>
              </a:path>
            </a:pathLst>
          </a:custGeom>
          <a:blipFill>
            <a:blip r:embed="rId3"/>
            <a:stretch>
              <a:fillRect l="0" t="0" r="0" b="0"/>
            </a:stretch>
          </a:blipFill>
        </p:spPr>
      </p:sp>
      <p:sp>
        <p:nvSpPr>
          <p:cNvPr name="TextBox 4" id="4"/>
          <p:cNvSpPr txBox="true"/>
          <p:nvPr/>
        </p:nvSpPr>
        <p:spPr>
          <a:xfrm rot="0">
            <a:off x="4080524" y="575945"/>
            <a:ext cx="13589530"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Exploratory Data Analysis</a:t>
            </a:r>
          </a:p>
        </p:txBody>
      </p:sp>
      <p:sp>
        <p:nvSpPr>
          <p:cNvPr name="TextBox 5" id="5"/>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member_v3</a:t>
            </a:r>
          </a:p>
        </p:txBody>
      </p:sp>
      <p:sp>
        <p:nvSpPr>
          <p:cNvPr name="TextBox 6" id="6"/>
          <p:cNvSpPr txBox="true"/>
          <p:nvPr/>
        </p:nvSpPr>
        <p:spPr>
          <a:xfrm rot="0">
            <a:off x="11866636" y="8603650"/>
            <a:ext cx="6016821" cy="828675"/>
          </a:xfrm>
          <a:prstGeom prst="rect">
            <a:avLst/>
          </a:prstGeom>
        </p:spPr>
        <p:txBody>
          <a:bodyPr anchor="t" rtlCol="false" tIns="0" lIns="0" bIns="0" rIns="0">
            <a:spAutoFit/>
          </a:bodyPr>
          <a:lstStyle/>
          <a:p>
            <a:pPr algn="l">
              <a:lnSpc>
                <a:spcPts val="3359"/>
              </a:lnSpc>
              <a:spcBef>
                <a:spcPct val="0"/>
              </a:spcBef>
            </a:pPr>
            <a:r>
              <a:rPr lang="en-US" b="true" sz="2799">
                <a:solidFill>
                  <a:srgbClr val="ED1C24"/>
                </a:solidFill>
                <a:latin typeface="Montserrat Bold"/>
                <a:ea typeface="Montserrat Bold"/>
                <a:cs typeface="Montserrat Bold"/>
                <a:sym typeface="Montserrat Bold"/>
              </a:rPr>
              <a:t>registered_via (payment  method)</a:t>
            </a:r>
          </a:p>
        </p:txBody>
      </p:sp>
      <p:sp>
        <p:nvSpPr>
          <p:cNvPr name="TextBox 7" id="7"/>
          <p:cNvSpPr txBox="true"/>
          <p:nvPr/>
        </p:nvSpPr>
        <p:spPr>
          <a:xfrm rot="0">
            <a:off x="1724119" y="8603650"/>
            <a:ext cx="6016821" cy="409575"/>
          </a:xfrm>
          <a:prstGeom prst="rect">
            <a:avLst/>
          </a:prstGeom>
        </p:spPr>
        <p:txBody>
          <a:bodyPr anchor="t" rtlCol="false" tIns="0" lIns="0" bIns="0" rIns="0">
            <a:spAutoFit/>
          </a:bodyPr>
          <a:lstStyle/>
          <a:p>
            <a:pPr algn="l">
              <a:lnSpc>
                <a:spcPts val="3359"/>
              </a:lnSpc>
              <a:spcBef>
                <a:spcPct val="0"/>
              </a:spcBef>
            </a:pPr>
            <a:r>
              <a:rPr lang="en-US" b="true" sz="2799">
                <a:solidFill>
                  <a:srgbClr val="ED1C24"/>
                </a:solidFill>
                <a:latin typeface="Montserrat Bold"/>
                <a:ea typeface="Montserrat Bold"/>
                <a:cs typeface="Montserrat Bold"/>
                <a:sym typeface="Montserrat Bold"/>
              </a:rPr>
              <a:t>city (where users lives)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9016" y="3828672"/>
            <a:ext cx="5466117" cy="5259197"/>
          </a:xfrm>
          <a:custGeom>
            <a:avLst/>
            <a:gdLst/>
            <a:ahLst/>
            <a:cxnLst/>
            <a:rect r="r" b="b" t="t" l="l"/>
            <a:pathLst>
              <a:path h="5259197" w="5466117">
                <a:moveTo>
                  <a:pt x="0" y="0"/>
                </a:moveTo>
                <a:lnTo>
                  <a:pt x="5466116" y="0"/>
                </a:lnTo>
                <a:lnTo>
                  <a:pt x="5466116" y="5259197"/>
                </a:lnTo>
                <a:lnTo>
                  <a:pt x="0" y="5259197"/>
                </a:lnTo>
                <a:lnTo>
                  <a:pt x="0" y="0"/>
                </a:lnTo>
                <a:close/>
              </a:path>
            </a:pathLst>
          </a:custGeom>
          <a:blipFill>
            <a:blip r:embed="rId2"/>
            <a:stretch>
              <a:fillRect l="0" t="0" r="0" b="0"/>
            </a:stretch>
          </a:blipFill>
        </p:spPr>
      </p:sp>
      <p:sp>
        <p:nvSpPr>
          <p:cNvPr name="TextBox 3" id="3"/>
          <p:cNvSpPr txBox="true"/>
          <p:nvPr/>
        </p:nvSpPr>
        <p:spPr>
          <a:xfrm rot="0">
            <a:off x="4080524" y="575945"/>
            <a:ext cx="13589530"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Exploratory Data Analysis</a:t>
            </a:r>
          </a:p>
        </p:txBody>
      </p:sp>
      <p:sp>
        <p:nvSpPr>
          <p:cNvPr name="TextBox 4" id="4"/>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transaction</a:t>
            </a:r>
          </a:p>
        </p:txBody>
      </p:sp>
      <p:sp>
        <p:nvSpPr>
          <p:cNvPr name="TextBox 5" id="5"/>
          <p:cNvSpPr txBox="true"/>
          <p:nvPr/>
        </p:nvSpPr>
        <p:spPr>
          <a:xfrm rot="0">
            <a:off x="798866" y="9296589"/>
            <a:ext cx="6016821" cy="409575"/>
          </a:xfrm>
          <a:prstGeom prst="rect">
            <a:avLst/>
          </a:prstGeom>
        </p:spPr>
        <p:txBody>
          <a:bodyPr anchor="t" rtlCol="false" tIns="0" lIns="0" bIns="0" rIns="0">
            <a:spAutoFit/>
          </a:bodyPr>
          <a:lstStyle/>
          <a:p>
            <a:pPr algn="l">
              <a:lnSpc>
                <a:spcPts val="3359"/>
              </a:lnSpc>
              <a:spcBef>
                <a:spcPct val="0"/>
              </a:spcBef>
            </a:pPr>
            <a:r>
              <a:rPr lang="en-US" b="true" sz="2799">
                <a:solidFill>
                  <a:srgbClr val="ED1C24"/>
                </a:solidFill>
                <a:latin typeface="Montserrat Bold"/>
                <a:ea typeface="Montserrat Bold"/>
                <a:cs typeface="Montserrat Bold"/>
                <a:sym typeface="Montserrat Bold"/>
              </a:rPr>
              <a:t>null values</a:t>
            </a:r>
          </a:p>
        </p:txBody>
      </p:sp>
      <p:sp>
        <p:nvSpPr>
          <p:cNvPr name="TextBox 6" id="6"/>
          <p:cNvSpPr txBox="true"/>
          <p:nvPr/>
        </p:nvSpPr>
        <p:spPr>
          <a:xfrm rot="0">
            <a:off x="666207" y="2863492"/>
            <a:ext cx="5368925" cy="542926"/>
          </a:xfrm>
          <a:prstGeom prst="rect">
            <a:avLst/>
          </a:prstGeom>
        </p:spPr>
        <p:txBody>
          <a:bodyPr anchor="t" rtlCol="false" tIns="0" lIns="0" bIns="0" rIns="0">
            <a:spAutoFit/>
          </a:bodyPr>
          <a:lstStyle/>
          <a:p>
            <a:pPr algn="ctr">
              <a:lnSpc>
                <a:spcPts val="4649"/>
              </a:lnSpc>
              <a:spcBef>
                <a:spcPct val="0"/>
              </a:spcBef>
            </a:pPr>
            <a:r>
              <a:rPr lang="en-US" sz="2999">
                <a:solidFill>
                  <a:srgbClr val="000000"/>
                </a:solidFill>
                <a:latin typeface="Montserrat"/>
                <a:ea typeface="Montserrat"/>
                <a:cs typeface="Montserrat"/>
                <a:sym typeface="Montserrat"/>
              </a:rPr>
              <a:t>15,985,834 rows × 11 columns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37152" y="2726988"/>
            <a:ext cx="10237516" cy="7560012"/>
          </a:xfrm>
          <a:custGeom>
            <a:avLst/>
            <a:gdLst/>
            <a:ahLst/>
            <a:cxnLst/>
            <a:rect r="r" b="b" t="t" l="l"/>
            <a:pathLst>
              <a:path h="7560012" w="10237516">
                <a:moveTo>
                  <a:pt x="0" y="0"/>
                </a:moveTo>
                <a:lnTo>
                  <a:pt x="10237517" y="0"/>
                </a:lnTo>
                <a:lnTo>
                  <a:pt x="10237517" y="7560012"/>
                </a:lnTo>
                <a:lnTo>
                  <a:pt x="0" y="7560012"/>
                </a:lnTo>
                <a:lnTo>
                  <a:pt x="0" y="0"/>
                </a:lnTo>
                <a:close/>
              </a:path>
            </a:pathLst>
          </a:custGeom>
          <a:blipFill>
            <a:blip r:embed="rId2"/>
            <a:stretch>
              <a:fillRect l="0" t="0" r="0" b="0"/>
            </a:stretch>
          </a:blipFill>
        </p:spPr>
      </p:sp>
      <p:sp>
        <p:nvSpPr>
          <p:cNvPr name="TextBox 3" id="3"/>
          <p:cNvSpPr txBox="true"/>
          <p:nvPr/>
        </p:nvSpPr>
        <p:spPr>
          <a:xfrm rot="0">
            <a:off x="4080524" y="575945"/>
            <a:ext cx="13589530"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Exploratory Data Analysis</a:t>
            </a:r>
          </a:p>
        </p:txBody>
      </p:sp>
      <p:sp>
        <p:nvSpPr>
          <p:cNvPr name="TextBox 4" id="4"/>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transaction</a:t>
            </a:r>
          </a:p>
        </p:txBody>
      </p:sp>
      <p:sp>
        <p:nvSpPr>
          <p:cNvPr name="TextBox 5" id="5"/>
          <p:cNvSpPr txBox="true"/>
          <p:nvPr/>
        </p:nvSpPr>
        <p:spPr>
          <a:xfrm rot="0">
            <a:off x="11450573" y="3367393"/>
            <a:ext cx="4544958" cy="1600200"/>
          </a:xfrm>
          <a:prstGeom prst="rect">
            <a:avLst/>
          </a:prstGeom>
        </p:spPr>
        <p:txBody>
          <a:bodyPr anchor="t" rtlCol="false" tIns="0" lIns="0" bIns="0" rIns="0">
            <a:spAutoFit/>
          </a:bodyPr>
          <a:lstStyle/>
          <a:p>
            <a:pPr algn="l">
              <a:lnSpc>
                <a:spcPts val="4259"/>
              </a:lnSpc>
              <a:spcBef>
                <a:spcPct val="0"/>
              </a:spcBef>
            </a:pPr>
            <a:r>
              <a:rPr lang="en-US" b="true" sz="3549">
                <a:solidFill>
                  <a:srgbClr val="000000"/>
                </a:solidFill>
                <a:latin typeface="Montserrat Bold"/>
                <a:ea typeface="Montserrat Bold"/>
                <a:cs typeface="Montserrat Bold"/>
                <a:sym typeface="Montserrat Bold"/>
              </a:rPr>
              <a:t>Most of the people where subscribed for 30 days plan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9016" y="2726988"/>
            <a:ext cx="9994592" cy="7560012"/>
          </a:xfrm>
          <a:custGeom>
            <a:avLst/>
            <a:gdLst/>
            <a:ahLst/>
            <a:cxnLst/>
            <a:rect r="r" b="b" t="t" l="l"/>
            <a:pathLst>
              <a:path h="7560012" w="9994592">
                <a:moveTo>
                  <a:pt x="0" y="0"/>
                </a:moveTo>
                <a:lnTo>
                  <a:pt x="9994592" y="0"/>
                </a:lnTo>
                <a:lnTo>
                  <a:pt x="9994592" y="7560012"/>
                </a:lnTo>
                <a:lnTo>
                  <a:pt x="0" y="7560012"/>
                </a:lnTo>
                <a:lnTo>
                  <a:pt x="0" y="0"/>
                </a:lnTo>
                <a:close/>
              </a:path>
            </a:pathLst>
          </a:custGeom>
          <a:blipFill>
            <a:blip r:embed="rId2"/>
            <a:stretch>
              <a:fillRect l="0" t="0" r="0" b="0"/>
            </a:stretch>
          </a:blipFill>
        </p:spPr>
      </p:sp>
      <p:sp>
        <p:nvSpPr>
          <p:cNvPr name="TextBox 3" id="3"/>
          <p:cNvSpPr txBox="true"/>
          <p:nvPr/>
        </p:nvSpPr>
        <p:spPr>
          <a:xfrm rot="0">
            <a:off x="4080524" y="575945"/>
            <a:ext cx="13589530"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Exploratory Data Analysis</a:t>
            </a:r>
          </a:p>
        </p:txBody>
      </p:sp>
      <p:sp>
        <p:nvSpPr>
          <p:cNvPr name="TextBox 4" id="4"/>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transaction</a:t>
            </a:r>
          </a:p>
        </p:txBody>
      </p:sp>
      <p:sp>
        <p:nvSpPr>
          <p:cNvPr name="TextBox 5" id="5"/>
          <p:cNvSpPr txBox="true"/>
          <p:nvPr/>
        </p:nvSpPr>
        <p:spPr>
          <a:xfrm rot="0">
            <a:off x="11503301" y="3437918"/>
            <a:ext cx="5755999" cy="4776953"/>
          </a:xfrm>
          <a:prstGeom prst="rect">
            <a:avLst/>
          </a:prstGeom>
        </p:spPr>
        <p:txBody>
          <a:bodyPr anchor="t" rtlCol="false" tIns="0" lIns="0" bIns="0" rIns="0">
            <a:spAutoFit/>
          </a:bodyPr>
          <a:lstStyle/>
          <a:p>
            <a:pPr algn="l">
              <a:lnSpc>
                <a:spcPts val="4255"/>
              </a:lnSpc>
            </a:pPr>
            <a:r>
              <a:rPr lang="en-US" sz="3546" b="true">
                <a:solidFill>
                  <a:srgbClr val="000000"/>
                </a:solidFill>
                <a:latin typeface="Montserrat Bold"/>
                <a:ea typeface="Montserrat Bold"/>
                <a:cs typeface="Montserrat Bold"/>
                <a:sym typeface="Montserrat Bold"/>
              </a:rPr>
              <a:t>Most of the people where did subscription for monthly plan so here we has 149 is highest count. second highest is 99 even it is monthly subscripion rate</a:t>
            </a:r>
          </a:p>
          <a:p>
            <a:pPr algn="l">
              <a:lnSpc>
                <a:spcPts val="4255"/>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9016" y="2726988"/>
            <a:ext cx="10682626" cy="7560012"/>
          </a:xfrm>
          <a:custGeom>
            <a:avLst/>
            <a:gdLst/>
            <a:ahLst/>
            <a:cxnLst/>
            <a:rect r="r" b="b" t="t" l="l"/>
            <a:pathLst>
              <a:path h="7560012" w="10682626">
                <a:moveTo>
                  <a:pt x="0" y="0"/>
                </a:moveTo>
                <a:lnTo>
                  <a:pt x="10682625" y="0"/>
                </a:lnTo>
                <a:lnTo>
                  <a:pt x="10682625" y="7560012"/>
                </a:lnTo>
                <a:lnTo>
                  <a:pt x="0" y="7560012"/>
                </a:lnTo>
                <a:lnTo>
                  <a:pt x="0" y="0"/>
                </a:lnTo>
                <a:close/>
              </a:path>
            </a:pathLst>
          </a:custGeom>
          <a:blipFill>
            <a:blip r:embed="rId2"/>
            <a:stretch>
              <a:fillRect l="0" t="0" r="0" b="0"/>
            </a:stretch>
          </a:blipFill>
        </p:spPr>
      </p:sp>
      <p:sp>
        <p:nvSpPr>
          <p:cNvPr name="TextBox 3" id="3"/>
          <p:cNvSpPr txBox="true"/>
          <p:nvPr/>
        </p:nvSpPr>
        <p:spPr>
          <a:xfrm rot="0">
            <a:off x="4080524" y="575945"/>
            <a:ext cx="13589530"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Exploratory Data Analysis</a:t>
            </a:r>
          </a:p>
        </p:txBody>
      </p:sp>
      <p:sp>
        <p:nvSpPr>
          <p:cNvPr name="TextBox 4" id="4"/>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transaction</a:t>
            </a:r>
          </a:p>
        </p:txBody>
      </p:sp>
      <p:sp>
        <p:nvSpPr>
          <p:cNvPr name="TextBox 5" id="5"/>
          <p:cNvSpPr txBox="true"/>
          <p:nvPr/>
        </p:nvSpPr>
        <p:spPr>
          <a:xfrm rot="0">
            <a:off x="12714342" y="4847836"/>
            <a:ext cx="4544958" cy="2085975"/>
          </a:xfrm>
          <a:prstGeom prst="rect">
            <a:avLst/>
          </a:prstGeom>
        </p:spPr>
        <p:txBody>
          <a:bodyPr anchor="t" rtlCol="false" tIns="0" lIns="0" bIns="0" rIns="0">
            <a:spAutoFit/>
          </a:bodyPr>
          <a:lstStyle/>
          <a:p>
            <a:pPr algn="l">
              <a:lnSpc>
                <a:spcPts val="3359"/>
              </a:lnSpc>
            </a:pPr>
            <a:r>
              <a:rPr lang="en-US" sz="2799" b="true">
                <a:solidFill>
                  <a:srgbClr val="000000"/>
                </a:solidFill>
                <a:latin typeface="Montserrat Bold"/>
                <a:ea typeface="Montserrat Bold"/>
                <a:cs typeface="Montserrat Bold"/>
                <a:sym typeface="Montserrat Bold"/>
              </a:rPr>
              <a:t>most of the people where doing payment through auto renew option</a:t>
            </a:r>
          </a:p>
          <a:p>
            <a:pPr algn="l">
              <a:lnSpc>
                <a:spcPts val="3359"/>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9016" y="2726988"/>
            <a:ext cx="10682626" cy="7560012"/>
          </a:xfrm>
          <a:custGeom>
            <a:avLst/>
            <a:gdLst/>
            <a:ahLst/>
            <a:cxnLst/>
            <a:rect r="r" b="b" t="t" l="l"/>
            <a:pathLst>
              <a:path h="7560012" w="10682626">
                <a:moveTo>
                  <a:pt x="0" y="0"/>
                </a:moveTo>
                <a:lnTo>
                  <a:pt x="10682625" y="0"/>
                </a:lnTo>
                <a:lnTo>
                  <a:pt x="10682625" y="7560012"/>
                </a:lnTo>
                <a:lnTo>
                  <a:pt x="0" y="7560012"/>
                </a:lnTo>
                <a:lnTo>
                  <a:pt x="0" y="0"/>
                </a:lnTo>
                <a:close/>
              </a:path>
            </a:pathLst>
          </a:custGeom>
          <a:blipFill>
            <a:blip r:embed="rId2"/>
            <a:stretch>
              <a:fillRect l="0" t="0" r="0" b="0"/>
            </a:stretch>
          </a:blipFill>
        </p:spPr>
      </p:sp>
      <p:sp>
        <p:nvSpPr>
          <p:cNvPr name="TextBox 3" id="3"/>
          <p:cNvSpPr txBox="true"/>
          <p:nvPr/>
        </p:nvSpPr>
        <p:spPr>
          <a:xfrm rot="0">
            <a:off x="4080524" y="575945"/>
            <a:ext cx="13589530"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Exploratory Data Analysis</a:t>
            </a:r>
          </a:p>
        </p:txBody>
      </p:sp>
      <p:sp>
        <p:nvSpPr>
          <p:cNvPr name="TextBox 4" id="4"/>
          <p:cNvSpPr txBox="true"/>
          <p:nvPr/>
        </p:nvSpPr>
        <p:spPr>
          <a:xfrm rot="0">
            <a:off x="569016" y="1877356"/>
            <a:ext cx="500464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transaction</a:t>
            </a:r>
          </a:p>
        </p:txBody>
      </p:sp>
      <p:sp>
        <p:nvSpPr>
          <p:cNvPr name="TextBox 5" id="5"/>
          <p:cNvSpPr txBox="true"/>
          <p:nvPr/>
        </p:nvSpPr>
        <p:spPr>
          <a:xfrm rot="0">
            <a:off x="11997068" y="3447443"/>
            <a:ext cx="4544958" cy="2200275"/>
          </a:xfrm>
          <a:prstGeom prst="rect">
            <a:avLst/>
          </a:prstGeom>
        </p:spPr>
        <p:txBody>
          <a:bodyPr anchor="t" rtlCol="false" tIns="0" lIns="0" bIns="0" rIns="0">
            <a:spAutoFit/>
          </a:bodyPr>
          <a:lstStyle/>
          <a:p>
            <a:pPr algn="l">
              <a:lnSpc>
                <a:spcPts val="3359"/>
              </a:lnSpc>
            </a:pPr>
            <a:r>
              <a:rPr lang="en-US" sz="2799" b="true">
                <a:solidFill>
                  <a:srgbClr val="000000"/>
                </a:solidFill>
                <a:latin typeface="Montserrat Bold"/>
                <a:ea typeface="Montserrat Bold"/>
                <a:cs typeface="Montserrat Bold"/>
                <a:sym typeface="Montserrat Bold"/>
              </a:rPr>
              <a:t>We have an imbalanced data set we can see that most of the users had not churn</a:t>
            </a:r>
          </a:p>
          <a:p>
            <a:pPr algn="l">
              <a:lnSpc>
                <a:spcPts val="4259"/>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0440" y="2726988"/>
            <a:ext cx="6600167" cy="5307258"/>
          </a:xfrm>
          <a:custGeom>
            <a:avLst/>
            <a:gdLst/>
            <a:ahLst/>
            <a:cxnLst/>
            <a:rect r="r" b="b" t="t" l="l"/>
            <a:pathLst>
              <a:path h="5307258" w="6600167">
                <a:moveTo>
                  <a:pt x="0" y="0"/>
                </a:moveTo>
                <a:lnTo>
                  <a:pt x="6600168" y="0"/>
                </a:lnTo>
                <a:lnTo>
                  <a:pt x="6600168" y="5307258"/>
                </a:lnTo>
                <a:lnTo>
                  <a:pt x="0" y="5307258"/>
                </a:lnTo>
                <a:lnTo>
                  <a:pt x="0" y="0"/>
                </a:lnTo>
                <a:close/>
              </a:path>
            </a:pathLst>
          </a:custGeom>
          <a:blipFill>
            <a:blip r:embed="rId2"/>
            <a:stretch>
              <a:fillRect l="0" t="0" r="0" b="0"/>
            </a:stretch>
          </a:blipFill>
        </p:spPr>
      </p:sp>
      <p:sp>
        <p:nvSpPr>
          <p:cNvPr name="Freeform 3" id="3"/>
          <p:cNvSpPr/>
          <p:nvPr/>
        </p:nvSpPr>
        <p:spPr>
          <a:xfrm flipH="false" flipV="false" rot="0">
            <a:off x="8069380" y="2726988"/>
            <a:ext cx="9189920" cy="4514548"/>
          </a:xfrm>
          <a:custGeom>
            <a:avLst/>
            <a:gdLst/>
            <a:ahLst/>
            <a:cxnLst/>
            <a:rect r="r" b="b" t="t" l="l"/>
            <a:pathLst>
              <a:path h="4514548" w="9189920">
                <a:moveTo>
                  <a:pt x="0" y="0"/>
                </a:moveTo>
                <a:lnTo>
                  <a:pt x="9189920" y="0"/>
                </a:lnTo>
                <a:lnTo>
                  <a:pt x="9189920" y="4514548"/>
                </a:lnTo>
                <a:lnTo>
                  <a:pt x="0" y="4514548"/>
                </a:lnTo>
                <a:lnTo>
                  <a:pt x="0" y="0"/>
                </a:lnTo>
                <a:close/>
              </a:path>
            </a:pathLst>
          </a:custGeom>
          <a:blipFill>
            <a:blip r:embed="rId3"/>
            <a:stretch>
              <a:fillRect l="0" t="0" r="0" b="0"/>
            </a:stretch>
          </a:blipFill>
        </p:spPr>
      </p:sp>
      <p:sp>
        <p:nvSpPr>
          <p:cNvPr name="TextBox 4" id="4"/>
          <p:cNvSpPr txBox="true"/>
          <p:nvPr/>
        </p:nvSpPr>
        <p:spPr>
          <a:xfrm rot="0">
            <a:off x="4080524" y="575945"/>
            <a:ext cx="13589530"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Exploratory Data Analysis</a:t>
            </a:r>
          </a:p>
        </p:txBody>
      </p:sp>
      <p:sp>
        <p:nvSpPr>
          <p:cNvPr name="TextBox 5" id="5"/>
          <p:cNvSpPr txBox="true"/>
          <p:nvPr/>
        </p:nvSpPr>
        <p:spPr>
          <a:xfrm rot="0">
            <a:off x="569016" y="1877356"/>
            <a:ext cx="1030627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missing data train set</a:t>
            </a:r>
          </a:p>
        </p:txBody>
      </p:sp>
      <p:sp>
        <p:nvSpPr>
          <p:cNvPr name="TextBox 6" id="6"/>
          <p:cNvSpPr txBox="true"/>
          <p:nvPr/>
        </p:nvSpPr>
        <p:spPr>
          <a:xfrm rot="0">
            <a:off x="8243941" y="7960375"/>
            <a:ext cx="10044059" cy="2095500"/>
          </a:xfrm>
          <a:prstGeom prst="rect">
            <a:avLst/>
          </a:prstGeom>
        </p:spPr>
        <p:txBody>
          <a:bodyPr anchor="t" rtlCol="false" tIns="0" lIns="0" bIns="0" rIns="0">
            <a:spAutoFit/>
          </a:bodyPr>
          <a:lstStyle/>
          <a:p>
            <a:pPr algn="l">
              <a:lnSpc>
                <a:spcPts val="4199"/>
              </a:lnSpc>
            </a:pPr>
            <a:r>
              <a:rPr lang="en-US" sz="3499">
                <a:solidFill>
                  <a:srgbClr val="000000"/>
                </a:solidFill>
                <a:latin typeface="Montserrat"/>
                <a:ea typeface="Montserrat"/>
                <a:cs typeface="Montserrat"/>
                <a:sym typeface="Montserrat"/>
              </a:rPr>
              <a:t>train has 976,420 rows, </a:t>
            </a:r>
          </a:p>
          <a:p>
            <a:pPr algn="l">
              <a:lnSpc>
                <a:spcPts val="4199"/>
              </a:lnSpc>
            </a:pPr>
            <a:r>
              <a:rPr lang="en-US" sz="3499">
                <a:solidFill>
                  <a:srgbClr val="000000"/>
                </a:solidFill>
                <a:latin typeface="Montserrat"/>
                <a:ea typeface="Montserrat"/>
                <a:cs typeface="Montserrat"/>
                <a:sym typeface="Montserrat"/>
              </a:rPr>
              <a:t>merge with “member” has </a:t>
            </a:r>
            <a:r>
              <a:rPr lang="en-US" sz="3499">
                <a:solidFill>
                  <a:srgbClr val="000000"/>
                </a:solidFill>
                <a:latin typeface="Montserrat"/>
                <a:ea typeface="Montserrat"/>
                <a:cs typeface="Montserrat"/>
                <a:sym typeface="Montserrat"/>
              </a:rPr>
              <a:t>864,552 rows</a:t>
            </a:r>
          </a:p>
          <a:p>
            <a:pPr algn="l">
              <a:lnSpc>
                <a:spcPts val="4199"/>
              </a:lnSpc>
            </a:pPr>
            <a:r>
              <a:rPr lang="en-US" sz="3499">
                <a:solidFill>
                  <a:srgbClr val="000000"/>
                </a:solidFill>
                <a:latin typeface="Montserrat"/>
                <a:ea typeface="Montserrat"/>
                <a:cs typeface="Montserrat"/>
                <a:sym typeface="Montserrat"/>
              </a:rPr>
              <a:t>=&gt;  did not have data for 111,868 in train set.</a:t>
            </a:r>
          </a:p>
          <a:p>
            <a:pPr algn="l">
              <a:lnSpc>
                <a:spcPts val="4199"/>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0440" y="2726988"/>
            <a:ext cx="6600167" cy="5307258"/>
          </a:xfrm>
          <a:custGeom>
            <a:avLst/>
            <a:gdLst/>
            <a:ahLst/>
            <a:cxnLst/>
            <a:rect r="r" b="b" t="t" l="l"/>
            <a:pathLst>
              <a:path h="5307258" w="6600167">
                <a:moveTo>
                  <a:pt x="0" y="0"/>
                </a:moveTo>
                <a:lnTo>
                  <a:pt x="6600168" y="0"/>
                </a:lnTo>
                <a:lnTo>
                  <a:pt x="6600168" y="5307258"/>
                </a:lnTo>
                <a:lnTo>
                  <a:pt x="0" y="5307258"/>
                </a:lnTo>
                <a:lnTo>
                  <a:pt x="0" y="0"/>
                </a:lnTo>
                <a:close/>
              </a:path>
            </a:pathLst>
          </a:custGeom>
          <a:blipFill>
            <a:blip r:embed="rId2"/>
            <a:stretch>
              <a:fillRect l="0" t="0" r="0" b="0"/>
            </a:stretch>
          </a:blipFill>
        </p:spPr>
      </p:sp>
      <p:sp>
        <p:nvSpPr>
          <p:cNvPr name="Freeform 3" id="3"/>
          <p:cNvSpPr/>
          <p:nvPr/>
        </p:nvSpPr>
        <p:spPr>
          <a:xfrm flipH="false" flipV="false" rot="0">
            <a:off x="8069380" y="2726988"/>
            <a:ext cx="9189920" cy="4514548"/>
          </a:xfrm>
          <a:custGeom>
            <a:avLst/>
            <a:gdLst/>
            <a:ahLst/>
            <a:cxnLst/>
            <a:rect r="r" b="b" t="t" l="l"/>
            <a:pathLst>
              <a:path h="4514548" w="9189920">
                <a:moveTo>
                  <a:pt x="0" y="0"/>
                </a:moveTo>
                <a:lnTo>
                  <a:pt x="9189920" y="0"/>
                </a:lnTo>
                <a:lnTo>
                  <a:pt x="9189920" y="4514548"/>
                </a:lnTo>
                <a:lnTo>
                  <a:pt x="0" y="4514548"/>
                </a:lnTo>
                <a:lnTo>
                  <a:pt x="0" y="0"/>
                </a:lnTo>
                <a:close/>
              </a:path>
            </a:pathLst>
          </a:custGeom>
          <a:blipFill>
            <a:blip r:embed="rId3"/>
            <a:stretch>
              <a:fillRect l="0" t="0" r="0" b="0"/>
            </a:stretch>
          </a:blipFill>
        </p:spPr>
      </p:sp>
      <p:sp>
        <p:nvSpPr>
          <p:cNvPr name="TextBox 4" id="4"/>
          <p:cNvSpPr txBox="true"/>
          <p:nvPr/>
        </p:nvSpPr>
        <p:spPr>
          <a:xfrm rot="0">
            <a:off x="4080524" y="575945"/>
            <a:ext cx="13589530" cy="1228725"/>
          </a:xfrm>
          <a:prstGeom prst="rect">
            <a:avLst/>
          </a:prstGeom>
        </p:spPr>
        <p:txBody>
          <a:bodyPr anchor="t" rtlCol="false" tIns="0" lIns="0" bIns="0" rIns="0">
            <a:spAutoFit/>
          </a:bodyPr>
          <a:lstStyle/>
          <a:p>
            <a:pPr algn="r" marL="0" indent="0" lvl="0">
              <a:lnSpc>
                <a:spcPts val="9600"/>
              </a:lnSpc>
              <a:spcBef>
                <a:spcPct val="0"/>
              </a:spcBef>
            </a:pPr>
            <a:r>
              <a:rPr lang="en-US" b="true" sz="8000">
                <a:solidFill>
                  <a:srgbClr val="000000"/>
                </a:solidFill>
                <a:latin typeface="Muli Bold"/>
                <a:ea typeface="Muli Bold"/>
                <a:cs typeface="Muli Bold"/>
                <a:sym typeface="Muli Bold"/>
              </a:rPr>
              <a:t>Exploratory Data Analysis</a:t>
            </a:r>
          </a:p>
        </p:txBody>
      </p:sp>
      <p:sp>
        <p:nvSpPr>
          <p:cNvPr name="TextBox 5" id="5"/>
          <p:cNvSpPr txBox="true"/>
          <p:nvPr/>
        </p:nvSpPr>
        <p:spPr>
          <a:xfrm rot="0">
            <a:off x="569016" y="1877356"/>
            <a:ext cx="10306273" cy="659132"/>
          </a:xfrm>
          <a:prstGeom prst="rect">
            <a:avLst/>
          </a:prstGeom>
        </p:spPr>
        <p:txBody>
          <a:bodyPr anchor="t" rtlCol="false" tIns="0" lIns="0" bIns="0" rIns="0">
            <a:spAutoFit/>
          </a:bodyPr>
          <a:lstStyle/>
          <a:p>
            <a:pPr algn="l">
              <a:lnSpc>
                <a:spcPts val="5579"/>
              </a:lnSpc>
            </a:pPr>
            <a:r>
              <a:rPr lang="en-US" sz="3599" b="true">
                <a:solidFill>
                  <a:srgbClr val="0070C0"/>
                </a:solidFill>
                <a:latin typeface="Montserrat Bold"/>
                <a:ea typeface="Montserrat Bold"/>
                <a:cs typeface="Montserrat Bold"/>
                <a:sym typeface="Montserrat Bold"/>
              </a:rPr>
              <a:t>missing data train set</a:t>
            </a:r>
          </a:p>
        </p:txBody>
      </p:sp>
      <p:sp>
        <p:nvSpPr>
          <p:cNvPr name="TextBox 6" id="6"/>
          <p:cNvSpPr txBox="true"/>
          <p:nvPr/>
        </p:nvSpPr>
        <p:spPr>
          <a:xfrm rot="0">
            <a:off x="8243941" y="7960375"/>
            <a:ext cx="10044059" cy="2095500"/>
          </a:xfrm>
          <a:prstGeom prst="rect">
            <a:avLst/>
          </a:prstGeom>
        </p:spPr>
        <p:txBody>
          <a:bodyPr anchor="t" rtlCol="false" tIns="0" lIns="0" bIns="0" rIns="0">
            <a:spAutoFit/>
          </a:bodyPr>
          <a:lstStyle/>
          <a:p>
            <a:pPr algn="l">
              <a:lnSpc>
                <a:spcPts val="4199"/>
              </a:lnSpc>
            </a:pPr>
            <a:r>
              <a:rPr lang="en-US" sz="3499">
                <a:solidFill>
                  <a:srgbClr val="000000"/>
                </a:solidFill>
                <a:latin typeface="Montserrat"/>
                <a:ea typeface="Montserrat"/>
                <a:cs typeface="Montserrat"/>
                <a:sym typeface="Montserrat"/>
              </a:rPr>
              <a:t>train has 976,420 rows, </a:t>
            </a:r>
          </a:p>
          <a:p>
            <a:pPr algn="l">
              <a:lnSpc>
                <a:spcPts val="4199"/>
              </a:lnSpc>
            </a:pPr>
            <a:r>
              <a:rPr lang="en-US" sz="3499">
                <a:solidFill>
                  <a:srgbClr val="000000"/>
                </a:solidFill>
                <a:latin typeface="Montserrat"/>
                <a:ea typeface="Montserrat"/>
                <a:cs typeface="Montserrat"/>
                <a:sym typeface="Montserrat"/>
              </a:rPr>
              <a:t>merge with “member” has </a:t>
            </a:r>
            <a:r>
              <a:rPr lang="en-US" sz="3499">
                <a:solidFill>
                  <a:srgbClr val="000000"/>
                </a:solidFill>
                <a:latin typeface="Montserrat"/>
                <a:ea typeface="Montserrat"/>
                <a:cs typeface="Montserrat"/>
                <a:sym typeface="Montserrat"/>
              </a:rPr>
              <a:t>864,552 rows</a:t>
            </a:r>
          </a:p>
          <a:p>
            <a:pPr algn="l">
              <a:lnSpc>
                <a:spcPts val="4199"/>
              </a:lnSpc>
            </a:pPr>
            <a:r>
              <a:rPr lang="en-US" sz="3499">
                <a:solidFill>
                  <a:srgbClr val="000000"/>
                </a:solidFill>
                <a:latin typeface="Montserrat"/>
                <a:ea typeface="Montserrat"/>
                <a:cs typeface="Montserrat"/>
                <a:sym typeface="Montserrat"/>
              </a:rPr>
              <a:t>=&gt;  did not have data for 111,868 in train set.</a:t>
            </a:r>
          </a:p>
          <a:p>
            <a:pPr algn="l">
              <a:lnSpc>
                <a:spcPts val="419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99680" y="-1470403"/>
            <a:ext cx="14026196" cy="11628992"/>
          </a:xfrm>
          <a:custGeom>
            <a:avLst/>
            <a:gdLst/>
            <a:ahLst/>
            <a:cxnLst/>
            <a:rect r="r" b="b" t="t" l="l"/>
            <a:pathLst>
              <a:path h="11628992" w="14026196">
                <a:moveTo>
                  <a:pt x="0" y="0"/>
                </a:moveTo>
                <a:lnTo>
                  <a:pt x="14026196" y="0"/>
                </a:lnTo>
                <a:lnTo>
                  <a:pt x="14026196" y="11628992"/>
                </a:lnTo>
                <a:lnTo>
                  <a:pt x="0" y="116289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040046" y="4034946"/>
            <a:ext cx="14207909" cy="2217107"/>
            <a:chOff x="0" y="0"/>
            <a:chExt cx="18943878" cy="2956143"/>
          </a:xfrm>
        </p:grpSpPr>
        <p:sp>
          <p:nvSpPr>
            <p:cNvPr name="TextBox 4" id="4"/>
            <p:cNvSpPr txBox="true"/>
            <p:nvPr/>
          </p:nvSpPr>
          <p:spPr>
            <a:xfrm rot="0">
              <a:off x="0" y="0"/>
              <a:ext cx="18943878" cy="1727200"/>
            </a:xfrm>
            <a:prstGeom prst="rect">
              <a:avLst/>
            </a:prstGeom>
          </p:spPr>
          <p:txBody>
            <a:bodyPr anchor="t" rtlCol="false" tIns="0" lIns="0" bIns="0" rIns="0">
              <a:spAutoFit/>
            </a:bodyPr>
            <a:lstStyle/>
            <a:p>
              <a:pPr algn="ctr" marL="0" indent="0" lvl="0">
                <a:lnSpc>
                  <a:spcPts val="10200"/>
                </a:lnSpc>
                <a:spcBef>
                  <a:spcPct val="0"/>
                </a:spcBef>
              </a:pPr>
              <a:r>
                <a:rPr lang="en-US" b="true" sz="8500">
                  <a:solidFill>
                    <a:srgbClr val="000000"/>
                  </a:solidFill>
                  <a:latin typeface="Muli Bold"/>
                  <a:ea typeface="Muli Bold"/>
                  <a:cs typeface="Muli Bold"/>
                  <a:sym typeface="Muli Bold"/>
                </a:rPr>
                <a:t>Data preprocessing</a:t>
              </a:r>
            </a:p>
          </p:txBody>
        </p:sp>
        <p:sp>
          <p:nvSpPr>
            <p:cNvPr name="TextBox 5" id="5"/>
            <p:cNvSpPr txBox="true"/>
            <p:nvPr/>
          </p:nvSpPr>
          <p:spPr>
            <a:xfrm rot="0">
              <a:off x="0" y="2317968"/>
              <a:ext cx="18943878" cy="638175"/>
            </a:xfrm>
            <a:prstGeom prst="rect">
              <a:avLst/>
            </a:prstGeom>
          </p:spPr>
          <p:txBody>
            <a:bodyPr anchor="t" rtlCol="false" tIns="0" lIns="0" bIns="0" rIns="0">
              <a:spAutoFit/>
            </a:bodyPr>
            <a:lstStyle/>
            <a:p>
              <a:pPr algn="ctr">
                <a:lnSpc>
                  <a:spcPts val="3900"/>
                </a:lnSpc>
              </a:pPr>
              <a:r>
                <a:rPr lang="en-US" sz="3000">
                  <a:solidFill>
                    <a:srgbClr val="000000"/>
                  </a:solidFill>
                  <a:latin typeface="Muli"/>
                  <a:ea typeface="Muli"/>
                  <a:cs typeface="Muli"/>
                  <a:sym typeface="Muli"/>
                </a:rPr>
                <a:t>Cleaning, Transforming, and Organizing Data</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29400" y="449637"/>
            <a:ext cx="10629900"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Muli Bold"/>
                <a:ea typeface="Muli Bold"/>
                <a:cs typeface="Muli Bold"/>
                <a:sym typeface="Muli Bold"/>
              </a:rPr>
              <a:t>Processing Pipeline</a:t>
            </a:r>
          </a:p>
        </p:txBody>
      </p:sp>
      <p:sp>
        <p:nvSpPr>
          <p:cNvPr name="TextBox 3" id="3"/>
          <p:cNvSpPr txBox="true"/>
          <p:nvPr/>
        </p:nvSpPr>
        <p:spPr>
          <a:xfrm rot="0">
            <a:off x="1580515" y="2529341"/>
            <a:ext cx="12414293" cy="752875"/>
          </a:xfrm>
          <a:prstGeom prst="rect">
            <a:avLst/>
          </a:prstGeom>
        </p:spPr>
        <p:txBody>
          <a:bodyPr anchor="t" rtlCol="false" tIns="0" lIns="0" bIns="0" rIns="0">
            <a:spAutoFit/>
          </a:bodyPr>
          <a:lstStyle/>
          <a:p>
            <a:pPr algn="l">
              <a:lnSpc>
                <a:spcPts val="5636"/>
              </a:lnSpc>
            </a:pPr>
            <a:r>
              <a:rPr lang="en-US" b="true" sz="4696">
                <a:solidFill>
                  <a:srgbClr val="000000"/>
                </a:solidFill>
                <a:latin typeface="Arimo Bold"/>
                <a:ea typeface="Arimo Bold"/>
                <a:cs typeface="Arimo Bold"/>
                <a:sym typeface="Arimo Bold"/>
              </a:rPr>
              <a:t>Step-by-Step Cleanse</a:t>
            </a:r>
          </a:p>
        </p:txBody>
      </p:sp>
      <p:sp>
        <p:nvSpPr>
          <p:cNvPr name="TextBox 4" id="4"/>
          <p:cNvSpPr txBox="true"/>
          <p:nvPr/>
        </p:nvSpPr>
        <p:spPr>
          <a:xfrm rot="0">
            <a:off x="2077583" y="3752107"/>
            <a:ext cx="11326068" cy="829588"/>
          </a:xfrm>
          <a:prstGeom prst="rect">
            <a:avLst/>
          </a:prstGeom>
        </p:spPr>
        <p:txBody>
          <a:bodyPr anchor="t" rtlCol="false" tIns="0" lIns="0" bIns="0" rIns="0">
            <a:spAutoFit/>
          </a:bodyPr>
          <a:lstStyle/>
          <a:p>
            <a:pPr algn="l">
              <a:lnSpc>
                <a:spcPts val="6038"/>
              </a:lnSpc>
            </a:pPr>
            <a:r>
              <a:rPr lang="en-US" b="true" sz="3354">
                <a:solidFill>
                  <a:srgbClr val="000000"/>
                </a:solidFill>
                <a:latin typeface="Inter Bold"/>
                <a:ea typeface="Inter Bold"/>
                <a:cs typeface="Inter Bold"/>
                <a:sym typeface="Inter Bold"/>
              </a:rPr>
              <a:t>Data Cleaning:</a:t>
            </a:r>
            <a:r>
              <a:rPr lang="en-US" sz="3354">
                <a:solidFill>
                  <a:srgbClr val="000000"/>
                </a:solidFill>
                <a:latin typeface="Inter"/>
                <a:ea typeface="Inter"/>
                <a:cs typeface="Inter"/>
                <a:sym typeface="Inter"/>
              </a:rPr>
              <a:t> Missing value &amp; outlier handling.</a:t>
            </a:r>
          </a:p>
        </p:txBody>
      </p:sp>
      <p:sp>
        <p:nvSpPr>
          <p:cNvPr name="TextBox 5" id="5"/>
          <p:cNvSpPr txBox="true"/>
          <p:nvPr/>
        </p:nvSpPr>
        <p:spPr>
          <a:xfrm rot="0">
            <a:off x="2077583" y="4710740"/>
            <a:ext cx="11326068" cy="701771"/>
          </a:xfrm>
          <a:prstGeom prst="rect">
            <a:avLst/>
          </a:prstGeom>
        </p:spPr>
        <p:txBody>
          <a:bodyPr anchor="t" rtlCol="false" tIns="0" lIns="0" bIns="0" rIns="0">
            <a:spAutoFit/>
          </a:bodyPr>
          <a:lstStyle/>
          <a:p>
            <a:pPr algn="l">
              <a:lnSpc>
                <a:spcPts val="6038"/>
              </a:lnSpc>
            </a:pPr>
            <a:r>
              <a:rPr lang="en-US" b="true" sz="3354">
                <a:solidFill>
                  <a:srgbClr val="000000"/>
                </a:solidFill>
                <a:latin typeface="Inter Bold"/>
                <a:ea typeface="Inter Bold"/>
                <a:cs typeface="Inter Bold"/>
                <a:sym typeface="Inter Bold"/>
              </a:rPr>
              <a:t>Normalization:</a:t>
            </a:r>
            <a:r>
              <a:rPr lang="en-US" sz="3354">
                <a:solidFill>
                  <a:srgbClr val="000000"/>
                </a:solidFill>
                <a:latin typeface="Inter"/>
                <a:ea typeface="Inter"/>
                <a:cs typeface="Inter"/>
                <a:sym typeface="Inter"/>
              </a:rPr>
              <a:t> Categorical encoding &amp; date formatting.</a:t>
            </a:r>
          </a:p>
        </p:txBody>
      </p:sp>
      <p:sp>
        <p:nvSpPr>
          <p:cNvPr name="TextBox 6" id="6"/>
          <p:cNvSpPr txBox="true"/>
          <p:nvPr/>
        </p:nvSpPr>
        <p:spPr>
          <a:xfrm rot="0">
            <a:off x="2077583" y="5925008"/>
            <a:ext cx="11326068" cy="829588"/>
          </a:xfrm>
          <a:prstGeom prst="rect">
            <a:avLst/>
          </a:prstGeom>
        </p:spPr>
        <p:txBody>
          <a:bodyPr anchor="t" rtlCol="false" tIns="0" lIns="0" bIns="0" rIns="0">
            <a:spAutoFit/>
          </a:bodyPr>
          <a:lstStyle/>
          <a:p>
            <a:pPr algn="l">
              <a:lnSpc>
                <a:spcPts val="6038"/>
              </a:lnSpc>
            </a:pPr>
            <a:r>
              <a:rPr lang="en-US" b="true" sz="3354">
                <a:solidFill>
                  <a:srgbClr val="000000"/>
                </a:solidFill>
                <a:latin typeface="Inter Bold"/>
                <a:ea typeface="Inter Bold"/>
                <a:cs typeface="Inter Bold"/>
                <a:sym typeface="Inter Bold"/>
              </a:rPr>
              <a:t>Feature Engineering:</a:t>
            </a:r>
            <a:r>
              <a:rPr lang="en-US" sz="3354">
                <a:solidFill>
                  <a:srgbClr val="000000"/>
                </a:solidFill>
                <a:latin typeface="Inter"/>
                <a:ea typeface="Inter"/>
                <a:cs typeface="Inter"/>
                <a:sym typeface="Inter"/>
              </a:rPr>
              <a:t> Calculating behavioral trends.</a:t>
            </a:r>
          </a:p>
        </p:txBody>
      </p:sp>
      <p:sp>
        <p:nvSpPr>
          <p:cNvPr name="TextBox 7" id="7"/>
          <p:cNvSpPr txBox="true"/>
          <p:nvPr/>
        </p:nvSpPr>
        <p:spPr>
          <a:xfrm rot="0">
            <a:off x="2077583" y="7267094"/>
            <a:ext cx="11326068" cy="701771"/>
          </a:xfrm>
          <a:prstGeom prst="rect">
            <a:avLst/>
          </a:prstGeom>
        </p:spPr>
        <p:txBody>
          <a:bodyPr anchor="t" rtlCol="false" tIns="0" lIns="0" bIns="0" rIns="0">
            <a:spAutoFit/>
          </a:bodyPr>
          <a:lstStyle/>
          <a:p>
            <a:pPr algn="l">
              <a:lnSpc>
                <a:spcPts val="6038"/>
              </a:lnSpc>
            </a:pPr>
            <a:r>
              <a:rPr lang="en-US" b="true" sz="3354">
                <a:solidFill>
                  <a:srgbClr val="000000"/>
                </a:solidFill>
                <a:latin typeface="Inter Bold"/>
                <a:ea typeface="Inter Bold"/>
                <a:cs typeface="Inter Bold"/>
                <a:sym typeface="Inter Bold"/>
              </a:rPr>
              <a:t>Aggregation:</a:t>
            </a:r>
            <a:r>
              <a:rPr lang="en-US" sz="3354">
                <a:solidFill>
                  <a:srgbClr val="000000"/>
                </a:solidFill>
                <a:latin typeface="Inter"/>
                <a:ea typeface="Inter"/>
                <a:cs typeface="Inter"/>
                <a:sym typeface="Inter"/>
              </a:rPr>
              <a:t> User-level grouping (msno).</a:t>
            </a:r>
          </a:p>
        </p:txBody>
      </p:sp>
      <p:grpSp>
        <p:nvGrpSpPr>
          <p:cNvPr name="Group 8" id="8"/>
          <p:cNvGrpSpPr/>
          <p:nvPr/>
        </p:nvGrpSpPr>
        <p:grpSpPr>
          <a:xfrm rot="0">
            <a:off x="1580515" y="4038471"/>
            <a:ext cx="426059" cy="447362"/>
            <a:chOff x="0" y="0"/>
            <a:chExt cx="381000" cy="400050"/>
          </a:xfrm>
        </p:grpSpPr>
        <p:sp>
          <p:nvSpPr>
            <p:cNvPr name="Freeform 9" id="9" descr="image.png"/>
            <p:cNvSpPr/>
            <p:nvPr/>
          </p:nvSpPr>
          <p:spPr>
            <a:xfrm flipH="false" flipV="false" rot="0">
              <a:off x="0" y="0"/>
              <a:ext cx="381000" cy="400050"/>
            </a:xfrm>
            <a:custGeom>
              <a:avLst/>
              <a:gdLst/>
              <a:ahLst/>
              <a:cxnLst/>
              <a:rect r="r" b="b" t="t" l="l"/>
              <a:pathLst>
                <a:path h="400050" w="381000">
                  <a:moveTo>
                    <a:pt x="0" y="0"/>
                  </a:moveTo>
                  <a:lnTo>
                    <a:pt x="381000" y="0"/>
                  </a:lnTo>
                  <a:lnTo>
                    <a:pt x="381000" y="400050"/>
                  </a:lnTo>
                  <a:lnTo>
                    <a:pt x="0" y="400050"/>
                  </a:lnTo>
                  <a:lnTo>
                    <a:pt x="0" y="0"/>
                  </a:lnTo>
                  <a:close/>
                </a:path>
              </a:pathLst>
            </a:custGeom>
            <a:blipFill>
              <a:blip r:embed="rId3"/>
              <a:stretch>
                <a:fillRect l="0" t="0" r="0" b="0"/>
              </a:stretch>
            </a:blipFill>
          </p:spPr>
        </p:sp>
      </p:grpSp>
      <p:grpSp>
        <p:nvGrpSpPr>
          <p:cNvPr name="Group 10" id="10"/>
          <p:cNvGrpSpPr/>
          <p:nvPr/>
        </p:nvGrpSpPr>
        <p:grpSpPr>
          <a:xfrm rot="0">
            <a:off x="1580515" y="4997103"/>
            <a:ext cx="426059" cy="447362"/>
            <a:chOff x="0" y="0"/>
            <a:chExt cx="381000" cy="400050"/>
          </a:xfrm>
        </p:grpSpPr>
        <p:sp>
          <p:nvSpPr>
            <p:cNvPr name="Freeform 11" id="11" descr="image.png"/>
            <p:cNvSpPr/>
            <p:nvPr/>
          </p:nvSpPr>
          <p:spPr>
            <a:xfrm flipH="false" flipV="false" rot="0">
              <a:off x="0" y="0"/>
              <a:ext cx="381000" cy="400050"/>
            </a:xfrm>
            <a:custGeom>
              <a:avLst/>
              <a:gdLst/>
              <a:ahLst/>
              <a:cxnLst/>
              <a:rect r="r" b="b" t="t" l="l"/>
              <a:pathLst>
                <a:path h="400050" w="381000">
                  <a:moveTo>
                    <a:pt x="0" y="0"/>
                  </a:moveTo>
                  <a:lnTo>
                    <a:pt x="381000" y="0"/>
                  </a:lnTo>
                  <a:lnTo>
                    <a:pt x="381000" y="400050"/>
                  </a:lnTo>
                  <a:lnTo>
                    <a:pt x="0" y="400050"/>
                  </a:lnTo>
                  <a:lnTo>
                    <a:pt x="0" y="0"/>
                  </a:lnTo>
                  <a:close/>
                </a:path>
              </a:pathLst>
            </a:custGeom>
            <a:blipFill>
              <a:blip r:embed="rId3"/>
              <a:stretch>
                <a:fillRect l="0" t="0" r="0" b="0"/>
              </a:stretch>
            </a:blipFill>
          </p:spPr>
        </p:sp>
      </p:grpSp>
      <p:grpSp>
        <p:nvGrpSpPr>
          <p:cNvPr name="Group 12" id="12"/>
          <p:cNvGrpSpPr/>
          <p:nvPr/>
        </p:nvGrpSpPr>
        <p:grpSpPr>
          <a:xfrm rot="0">
            <a:off x="1580515" y="6197170"/>
            <a:ext cx="426059" cy="447362"/>
            <a:chOff x="0" y="0"/>
            <a:chExt cx="381000" cy="400050"/>
          </a:xfrm>
        </p:grpSpPr>
        <p:sp>
          <p:nvSpPr>
            <p:cNvPr name="Freeform 13" id="13" descr="image.png"/>
            <p:cNvSpPr/>
            <p:nvPr/>
          </p:nvSpPr>
          <p:spPr>
            <a:xfrm flipH="false" flipV="false" rot="0">
              <a:off x="0" y="0"/>
              <a:ext cx="381000" cy="400050"/>
            </a:xfrm>
            <a:custGeom>
              <a:avLst/>
              <a:gdLst/>
              <a:ahLst/>
              <a:cxnLst/>
              <a:rect r="r" b="b" t="t" l="l"/>
              <a:pathLst>
                <a:path h="400050" w="381000">
                  <a:moveTo>
                    <a:pt x="0" y="0"/>
                  </a:moveTo>
                  <a:lnTo>
                    <a:pt x="381000" y="0"/>
                  </a:lnTo>
                  <a:lnTo>
                    <a:pt x="381000" y="400050"/>
                  </a:lnTo>
                  <a:lnTo>
                    <a:pt x="0" y="400050"/>
                  </a:lnTo>
                  <a:lnTo>
                    <a:pt x="0" y="0"/>
                  </a:lnTo>
                  <a:close/>
                </a:path>
              </a:pathLst>
            </a:custGeom>
            <a:blipFill>
              <a:blip r:embed="rId3"/>
              <a:stretch>
                <a:fillRect l="0" t="0" r="0" b="0"/>
              </a:stretch>
            </a:blipFill>
          </p:spPr>
        </p:sp>
      </p:grpSp>
      <p:grpSp>
        <p:nvGrpSpPr>
          <p:cNvPr name="Group 14" id="14"/>
          <p:cNvGrpSpPr/>
          <p:nvPr/>
        </p:nvGrpSpPr>
        <p:grpSpPr>
          <a:xfrm rot="0">
            <a:off x="1580515" y="7553457"/>
            <a:ext cx="426059" cy="447362"/>
            <a:chOff x="0" y="0"/>
            <a:chExt cx="381000" cy="400050"/>
          </a:xfrm>
        </p:grpSpPr>
        <p:sp>
          <p:nvSpPr>
            <p:cNvPr name="Freeform 15" id="15" descr="image.png"/>
            <p:cNvSpPr/>
            <p:nvPr/>
          </p:nvSpPr>
          <p:spPr>
            <a:xfrm flipH="false" flipV="false" rot="0">
              <a:off x="0" y="0"/>
              <a:ext cx="381000" cy="400050"/>
            </a:xfrm>
            <a:custGeom>
              <a:avLst/>
              <a:gdLst/>
              <a:ahLst/>
              <a:cxnLst/>
              <a:rect r="r" b="b" t="t" l="l"/>
              <a:pathLst>
                <a:path h="400050" w="381000">
                  <a:moveTo>
                    <a:pt x="0" y="0"/>
                  </a:moveTo>
                  <a:lnTo>
                    <a:pt x="381000" y="0"/>
                  </a:lnTo>
                  <a:lnTo>
                    <a:pt x="381000" y="400050"/>
                  </a:lnTo>
                  <a:lnTo>
                    <a:pt x="0" y="400050"/>
                  </a:lnTo>
                  <a:lnTo>
                    <a:pt x="0" y="0"/>
                  </a:lnTo>
                  <a:close/>
                </a:path>
              </a:pathLst>
            </a:custGeom>
            <a:blipFill>
              <a:blip r:embed="rId3"/>
              <a:stretch>
                <a:fillRect l="0" t="0" r="0" b="0"/>
              </a:stretch>
            </a:blipFill>
          </p:spPr>
        </p:sp>
      </p:gr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96177" y="381000"/>
            <a:ext cx="15252727"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Muli Bold"/>
                <a:ea typeface="Muli Bold"/>
                <a:cs typeface="Muli Bold"/>
                <a:sym typeface="Muli Bold"/>
              </a:rPr>
              <a:t>Handling Data Abnormalities</a:t>
            </a:r>
          </a:p>
        </p:txBody>
      </p:sp>
      <p:grpSp>
        <p:nvGrpSpPr>
          <p:cNvPr name="Group 3" id="3"/>
          <p:cNvGrpSpPr/>
          <p:nvPr/>
        </p:nvGrpSpPr>
        <p:grpSpPr>
          <a:xfrm rot="0">
            <a:off x="587776" y="3476323"/>
            <a:ext cx="8342256" cy="3210227"/>
            <a:chOff x="0" y="0"/>
            <a:chExt cx="2197137" cy="845492"/>
          </a:xfrm>
        </p:grpSpPr>
        <p:sp>
          <p:nvSpPr>
            <p:cNvPr name="Freeform 4" id="4"/>
            <p:cNvSpPr/>
            <p:nvPr/>
          </p:nvSpPr>
          <p:spPr>
            <a:xfrm flipH="false" flipV="false" rot="0">
              <a:off x="0" y="0"/>
              <a:ext cx="2197137" cy="845492"/>
            </a:xfrm>
            <a:custGeom>
              <a:avLst/>
              <a:gdLst/>
              <a:ahLst/>
              <a:cxnLst/>
              <a:rect r="r" b="b" t="t" l="l"/>
              <a:pathLst>
                <a:path h="845492" w="2197137">
                  <a:moveTo>
                    <a:pt x="15777" y="0"/>
                  </a:moveTo>
                  <a:lnTo>
                    <a:pt x="2181361" y="0"/>
                  </a:lnTo>
                  <a:cubicBezTo>
                    <a:pt x="2190074" y="0"/>
                    <a:pt x="2197137" y="7063"/>
                    <a:pt x="2197137" y="15777"/>
                  </a:cubicBezTo>
                  <a:lnTo>
                    <a:pt x="2197137" y="829715"/>
                  </a:lnTo>
                  <a:cubicBezTo>
                    <a:pt x="2197137" y="838428"/>
                    <a:pt x="2190074" y="845492"/>
                    <a:pt x="2181361" y="845492"/>
                  </a:cubicBezTo>
                  <a:lnTo>
                    <a:pt x="15777" y="845492"/>
                  </a:lnTo>
                  <a:cubicBezTo>
                    <a:pt x="7063" y="845492"/>
                    <a:pt x="0" y="838428"/>
                    <a:pt x="0" y="829715"/>
                  </a:cubicBezTo>
                  <a:lnTo>
                    <a:pt x="0" y="15777"/>
                  </a:lnTo>
                  <a:cubicBezTo>
                    <a:pt x="0" y="7063"/>
                    <a:pt x="7063" y="0"/>
                    <a:pt x="15777" y="0"/>
                  </a:cubicBezTo>
                  <a:close/>
                </a:path>
              </a:pathLst>
            </a:custGeom>
            <a:ln w="38100" cap="sq">
              <a:solidFill>
                <a:srgbClr val="000000"/>
              </a:solidFill>
              <a:prstDash val="solid"/>
              <a:miter/>
            </a:ln>
          </p:spPr>
        </p:sp>
        <p:sp>
          <p:nvSpPr>
            <p:cNvPr name="TextBox 5" id="5"/>
            <p:cNvSpPr txBox="true"/>
            <p:nvPr/>
          </p:nvSpPr>
          <p:spPr>
            <a:xfrm>
              <a:off x="0" y="-133350"/>
              <a:ext cx="2197137" cy="978842"/>
            </a:xfrm>
            <a:prstGeom prst="rect">
              <a:avLst/>
            </a:prstGeom>
          </p:spPr>
          <p:txBody>
            <a:bodyPr anchor="ctr" rtlCol="false" tIns="50800" lIns="50800" bIns="50800" rIns="50800"/>
            <a:lstStyle/>
            <a:p>
              <a:pPr algn="ctr">
                <a:lnSpc>
                  <a:spcPts val="4050"/>
                </a:lnSpc>
              </a:pPr>
            </a:p>
          </p:txBody>
        </p:sp>
      </p:grpSp>
      <p:sp>
        <p:nvSpPr>
          <p:cNvPr name="TextBox 6" id="6"/>
          <p:cNvSpPr txBox="true"/>
          <p:nvPr/>
        </p:nvSpPr>
        <p:spPr>
          <a:xfrm rot="0">
            <a:off x="1028700" y="3605697"/>
            <a:ext cx="7901332" cy="538021"/>
          </a:xfrm>
          <a:prstGeom prst="rect">
            <a:avLst/>
          </a:prstGeom>
        </p:spPr>
        <p:txBody>
          <a:bodyPr anchor="t" rtlCol="false" tIns="0" lIns="0" bIns="0" rIns="0">
            <a:spAutoFit/>
          </a:bodyPr>
          <a:lstStyle/>
          <a:p>
            <a:pPr algn="l">
              <a:lnSpc>
                <a:spcPts val="4038"/>
              </a:lnSpc>
            </a:pPr>
            <a:r>
              <a:rPr lang="en-US" b="true" sz="3365">
                <a:solidFill>
                  <a:srgbClr val="3B82F6"/>
                </a:solidFill>
                <a:latin typeface="Arimo Bold"/>
                <a:ea typeface="Arimo Bold"/>
                <a:cs typeface="Arimo Bold"/>
                <a:sym typeface="Arimo Bold"/>
              </a:rPr>
              <a:t>Missing Gender</a:t>
            </a:r>
          </a:p>
        </p:txBody>
      </p:sp>
      <p:sp>
        <p:nvSpPr>
          <p:cNvPr name="TextBox 7" id="7"/>
          <p:cNvSpPr txBox="true"/>
          <p:nvPr/>
        </p:nvSpPr>
        <p:spPr>
          <a:xfrm rot="0">
            <a:off x="1028700" y="4229801"/>
            <a:ext cx="7525078" cy="509207"/>
          </a:xfrm>
          <a:prstGeom prst="rect">
            <a:avLst/>
          </a:prstGeom>
        </p:spPr>
        <p:txBody>
          <a:bodyPr anchor="t" rtlCol="false" tIns="0" lIns="0" bIns="0" rIns="0">
            <a:spAutoFit/>
          </a:bodyPr>
          <a:lstStyle/>
          <a:p>
            <a:pPr algn="l">
              <a:lnSpc>
                <a:spcPts val="4326"/>
              </a:lnSpc>
            </a:pPr>
            <a:r>
              <a:rPr lang="en-US" b="true" sz="2403">
                <a:solidFill>
                  <a:srgbClr val="000000"/>
                </a:solidFill>
                <a:latin typeface="Inter Bold"/>
                <a:ea typeface="Inter Bold"/>
                <a:cs typeface="Inter Bold"/>
                <a:sym typeface="Inter Bold"/>
              </a:rPr>
              <a:t>Over 50</a:t>
            </a:r>
            <a:r>
              <a:rPr lang="en-US" b="true" sz="2403">
                <a:solidFill>
                  <a:srgbClr val="000000"/>
                </a:solidFill>
                <a:latin typeface="Inter Bold"/>
                <a:ea typeface="Inter Bold"/>
                <a:cs typeface="Inter Bold"/>
                <a:sym typeface="Inter Bold"/>
              </a:rPr>
              <a:t>%</a:t>
            </a:r>
            <a:r>
              <a:rPr lang="en-US" sz="2403">
                <a:solidFill>
                  <a:srgbClr val="000000"/>
                </a:solidFill>
                <a:latin typeface="Inter"/>
                <a:ea typeface="Inter"/>
                <a:cs typeface="Inter"/>
                <a:sym typeface="Inter"/>
              </a:rPr>
              <a:t> missing values in profile data.</a:t>
            </a:r>
          </a:p>
        </p:txBody>
      </p:sp>
      <p:sp>
        <p:nvSpPr>
          <p:cNvPr name="TextBox 8" id="8"/>
          <p:cNvSpPr txBox="true"/>
          <p:nvPr/>
        </p:nvSpPr>
        <p:spPr>
          <a:xfrm rot="0">
            <a:off x="1028700" y="4916674"/>
            <a:ext cx="7525078" cy="1058706"/>
          </a:xfrm>
          <a:prstGeom prst="rect">
            <a:avLst/>
          </a:prstGeom>
        </p:spPr>
        <p:txBody>
          <a:bodyPr anchor="t" rtlCol="false" tIns="0" lIns="0" bIns="0" rIns="0">
            <a:spAutoFit/>
          </a:bodyPr>
          <a:lstStyle/>
          <a:p>
            <a:pPr algn="l">
              <a:lnSpc>
                <a:spcPts val="4326"/>
              </a:lnSpc>
            </a:pPr>
            <a:r>
              <a:rPr lang="en-US" sz="2403">
                <a:solidFill>
                  <a:srgbClr val="000000"/>
                </a:solidFill>
                <a:latin typeface="Inter"/>
                <a:ea typeface="Inter"/>
                <a:cs typeface="Inter"/>
                <a:sym typeface="Inter"/>
              </a:rPr>
              <a:t>Keep NaN as its own category during encoding instead of dropping rows.</a:t>
            </a:r>
          </a:p>
        </p:txBody>
      </p:sp>
      <p:grpSp>
        <p:nvGrpSpPr>
          <p:cNvPr name="Group 9" id="9"/>
          <p:cNvGrpSpPr/>
          <p:nvPr/>
        </p:nvGrpSpPr>
        <p:grpSpPr>
          <a:xfrm rot="0">
            <a:off x="9367001" y="3476323"/>
            <a:ext cx="8342256" cy="3210227"/>
            <a:chOff x="0" y="0"/>
            <a:chExt cx="2197137" cy="845492"/>
          </a:xfrm>
        </p:grpSpPr>
        <p:sp>
          <p:nvSpPr>
            <p:cNvPr name="Freeform 10" id="10"/>
            <p:cNvSpPr/>
            <p:nvPr/>
          </p:nvSpPr>
          <p:spPr>
            <a:xfrm flipH="false" flipV="false" rot="0">
              <a:off x="0" y="0"/>
              <a:ext cx="2197137" cy="845492"/>
            </a:xfrm>
            <a:custGeom>
              <a:avLst/>
              <a:gdLst/>
              <a:ahLst/>
              <a:cxnLst/>
              <a:rect r="r" b="b" t="t" l="l"/>
              <a:pathLst>
                <a:path h="845492" w="2197137">
                  <a:moveTo>
                    <a:pt x="15777" y="0"/>
                  </a:moveTo>
                  <a:lnTo>
                    <a:pt x="2181361" y="0"/>
                  </a:lnTo>
                  <a:cubicBezTo>
                    <a:pt x="2190074" y="0"/>
                    <a:pt x="2197137" y="7063"/>
                    <a:pt x="2197137" y="15777"/>
                  </a:cubicBezTo>
                  <a:lnTo>
                    <a:pt x="2197137" y="829715"/>
                  </a:lnTo>
                  <a:cubicBezTo>
                    <a:pt x="2197137" y="838428"/>
                    <a:pt x="2190074" y="845492"/>
                    <a:pt x="2181361" y="845492"/>
                  </a:cubicBezTo>
                  <a:lnTo>
                    <a:pt x="15777" y="845492"/>
                  </a:lnTo>
                  <a:cubicBezTo>
                    <a:pt x="7063" y="845492"/>
                    <a:pt x="0" y="838428"/>
                    <a:pt x="0" y="829715"/>
                  </a:cubicBezTo>
                  <a:lnTo>
                    <a:pt x="0" y="15777"/>
                  </a:lnTo>
                  <a:cubicBezTo>
                    <a:pt x="0" y="7063"/>
                    <a:pt x="7063" y="0"/>
                    <a:pt x="15777" y="0"/>
                  </a:cubicBezTo>
                  <a:close/>
                </a:path>
              </a:pathLst>
            </a:custGeom>
            <a:ln w="38100" cap="sq">
              <a:solidFill>
                <a:srgbClr val="000000"/>
              </a:solidFill>
              <a:prstDash val="solid"/>
              <a:miter/>
            </a:ln>
          </p:spPr>
        </p:sp>
        <p:sp>
          <p:nvSpPr>
            <p:cNvPr name="TextBox 11" id="11"/>
            <p:cNvSpPr txBox="true"/>
            <p:nvPr/>
          </p:nvSpPr>
          <p:spPr>
            <a:xfrm>
              <a:off x="0" y="-133350"/>
              <a:ext cx="2197137" cy="978842"/>
            </a:xfrm>
            <a:prstGeom prst="rect">
              <a:avLst/>
            </a:prstGeom>
          </p:spPr>
          <p:txBody>
            <a:bodyPr anchor="ctr" rtlCol="false" tIns="50800" lIns="50800" bIns="50800" rIns="50800"/>
            <a:lstStyle/>
            <a:p>
              <a:pPr algn="ctr">
                <a:lnSpc>
                  <a:spcPts val="4050"/>
                </a:lnSpc>
              </a:pPr>
            </a:p>
          </p:txBody>
        </p:sp>
      </p:grpSp>
      <p:sp>
        <p:nvSpPr>
          <p:cNvPr name="TextBox 12" id="12"/>
          <p:cNvSpPr txBox="true"/>
          <p:nvPr/>
        </p:nvSpPr>
        <p:spPr>
          <a:xfrm rot="0">
            <a:off x="9998776" y="3605697"/>
            <a:ext cx="7901332" cy="538021"/>
          </a:xfrm>
          <a:prstGeom prst="rect">
            <a:avLst/>
          </a:prstGeom>
        </p:spPr>
        <p:txBody>
          <a:bodyPr anchor="t" rtlCol="false" tIns="0" lIns="0" bIns="0" rIns="0">
            <a:spAutoFit/>
          </a:bodyPr>
          <a:lstStyle/>
          <a:p>
            <a:pPr algn="l">
              <a:lnSpc>
                <a:spcPts val="4038"/>
              </a:lnSpc>
            </a:pPr>
            <a:r>
              <a:rPr lang="en-US" b="true" sz="3365">
                <a:solidFill>
                  <a:srgbClr val="3B82F6"/>
                </a:solidFill>
                <a:latin typeface="Arimo Bold"/>
                <a:ea typeface="Arimo Bold"/>
                <a:cs typeface="Arimo Bold"/>
                <a:sym typeface="Arimo Bold"/>
              </a:rPr>
              <a:t>Age (bd) Outliers</a:t>
            </a:r>
          </a:p>
        </p:txBody>
      </p:sp>
      <p:sp>
        <p:nvSpPr>
          <p:cNvPr name="TextBox 13" id="13"/>
          <p:cNvSpPr txBox="true"/>
          <p:nvPr/>
        </p:nvSpPr>
        <p:spPr>
          <a:xfrm rot="0">
            <a:off x="9998776" y="4229801"/>
            <a:ext cx="7525078" cy="1058706"/>
          </a:xfrm>
          <a:prstGeom prst="rect">
            <a:avLst/>
          </a:prstGeom>
        </p:spPr>
        <p:txBody>
          <a:bodyPr anchor="t" rtlCol="false" tIns="0" lIns="0" bIns="0" rIns="0">
            <a:spAutoFit/>
          </a:bodyPr>
          <a:lstStyle/>
          <a:p>
            <a:pPr algn="l">
              <a:lnSpc>
                <a:spcPts val="4326"/>
              </a:lnSpc>
            </a:pPr>
            <a:r>
              <a:rPr lang="en-US" sz="2403">
                <a:solidFill>
                  <a:srgbClr val="000000"/>
                </a:solidFill>
                <a:latin typeface="Inter"/>
                <a:ea typeface="Inter"/>
                <a:cs typeface="Inter"/>
                <a:sym typeface="Inter"/>
              </a:rPr>
              <a:t>bd contains negative values, 0s, and values above the realistic age range.</a:t>
            </a:r>
          </a:p>
        </p:txBody>
      </p:sp>
      <p:sp>
        <p:nvSpPr>
          <p:cNvPr name="TextBox 14" id="14"/>
          <p:cNvSpPr txBox="true"/>
          <p:nvPr/>
        </p:nvSpPr>
        <p:spPr>
          <a:xfrm rot="0">
            <a:off x="9998776" y="5374589"/>
            <a:ext cx="7525078" cy="1058706"/>
          </a:xfrm>
          <a:prstGeom prst="rect">
            <a:avLst/>
          </a:prstGeom>
        </p:spPr>
        <p:txBody>
          <a:bodyPr anchor="t" rtlCol="false" tIns="0" lIns="0" bIns="0" rIns="0">
            <a:spAutoFit/>
          </a:bodyPr>
          <a:lstStyle/>
          <a:p>
            <a:pPr algn="l">
              <a:lnSpc>
                <a:spcPts val="4326"/>
              </a:lnSpc>
            </a:pPr>
            <a:r>
              <a:rPr lang="en-US" sz="2403">
                <a:solidFill>
                  <a:srgbClr val="000000"/>
                </a:solidFill>
                <a:latin typeface="Inter"/>
                <a:ea typeface="Inter"/>
                <a:cs typeface="Inter"/>
                <a:sym typeface="Inter"/>
              </a:rPr>
              <a:t>Set age values outside 10–85 to -1, and use -1 as a sentinel for missing/outlier ages.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08359" y="381000"/>
            <a:ext cx="16540544"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Muli Bold"/>
                <a:ea typeface="Muli Bold"/>
                <a:cs typeface="Muli Bold"/>
                <a:sym typeface="Muli Bold"/>
              </a:rPr>
              <a:t>Behavioral Feature Extraction</a:t>
            </a:r>
          </a:p>
        </p:txBody>
      </p:sp>
      <p:grpSp>
        <p:nvGrpSpPr>
          <p:cNvPr name="Group 3" id="3"/>
          <p:cNvGrpSpPr/>
          <p:nvPr/>
        </p:nvGrpSpPr>
        <p:grpSpPr>
          <a:xfrm rot="0">
            <a:off x="1145051" y="3957638"/>
            <a:ext cx="4845908" cy="3805619"/>
            <a:chOff x="0" y="0"/>
            <a:chExt cx="1276289" cy="1002303"/>
          </a:xfrm>
        </p:grpSpPr>
        <p:sp>
          <p:nvSpPr>
            <p:cNvPr name="Freeform 4" id="4"/>
            <p:cNvSpPr/>
            <p:nvPr/>
          </p:nvSpPr>
          <p:spPr>
            <a:xfrm flipH="false" flipV="false" rot="0">
              <a:off x="0" y="0"/>
              <a:ext cx="1276288" cy="1002303"/>
            </a:xfrm>
            <a:custGeom>
              <a:avLst/>
              <a:gdLst/>
              <a:ahLst/>
              <a:cxnLst/>
              <a:rect r="r" b="b" t="t" l="l"/>
              <a:pathLst>
                <a:path h="1002303" w="1276288">
                  <a:moveTo>
                    <a:pt x="27160" y="0"/>
                  </a:moveTo>
                  <a:lnTo>
                    <a:pt x="1249129" y="0"/>
                  </a:lnTo>
                  <a:cubicBezTo>
                    <a:pt x="1264129" y="0"/>
                    <a:pt x="1276288" y="12160"/>
                    <a:pt x="1276288" y="27160"/>
                  </a:cubicBezTo>
                  <a:lnTo>
                    <a:pt x="1276288" y="975143"/>
                  </a:lnTo>
                  <a:cubicBezTo>
                    <a:pt x="1276288" y="982347"/>
                    <a:pt x="1273427" y="989255"/>
                    <a:pt x="1268334" y="994348"/>
                  </a:cubicBezTo>
                  <a:cubicBezTo>
                    <a:pt x="1263240" y="999442"/>
                    <a:pt x="1256332" y="1002303"/>
                    <a:pt x="1249129" y="1002303"/>
                  </a:cubicBezTo>
                  <a:lnTo>
                    <a:pt x="27160" y="1002303"/>
                  </a:lnTo>
                  <a:cubicBezTo>
                    <a:pt x="19956" y="1002303"/>
                    <a:pt x="13048" y="999442"/>
                    <a:pt x="7955" y="994348"/>
                  </a:cubicBezTo>
                  <a:cubicBezTo>
                    <a:pt x="2861" y="989255"/>
                    <a:pt x="0" y="982347"/>
                    <a:pt x="0" y="975143"/>
                  </a:cubicBezTo>
                  <a:lnTo>
                    <a:pt x="0" y="27160"/>
                  </a:lnTo>
                  <a:cubicBezTo>
                    <a:pt x="0" y="19956"/>
                    <a:pt x="2861" y="13048"/>
                    <a:pt x="7955" y="7955"/>
                  </a:cubicBezTo>
                  <a:cubicBezTo>
                    <a:pt x="13048" y="2861"/>
                    <a:pt x="19956" y="0"/>
                    <a:pt x="27160" y="0"/>
                  </a:cubicBezTo>
                  <a:close/>
                </a:path>
              </a:pathLst>
            </a:custGeom>
            <a:solidFill>
              <a:srgbClr val="FEFEFE"/>
            </a:solidFill>
            <a:ln w="38100" cap="sq">
              <a:solidFill>
                <a:srgbClr val="000000"/>
              </a:solidFill>
              <a:prstDash val="solid"/>
              <a:miter/>
            </a:ln>
          </p:spPr>
        </p:sp>
        <p:sp>
          <p:nvSpPr>
            <p:cNvPr name="TextBox 5" id="5"/>
            <p:cNvSpPr txBox="true"/>
            <p:nvPr/>
          </p:nvSpPr>
          <p:spPr>
            <a:xfrm>
              <a:off x="0" y="-133350"/>
              <a:ext cx="1276289" cy="1135653"/>
            </a:xfrm>
            <a:prstGeom prst="rect">
              <a:avLst/>
            </a:prstGeom>
          </p:spPr>
          <p:txBody>
            <a:bodyPr anchor="ctr" rtlCol="false" tIns="50800" lIns="50800" bIns="50800" rIns="50800"/>
            <a:lstStyle/>
            <a:p>
              <a:pPr algn="ctr">
                <a:lnSpc>
                  <a:spcPts val="4050"/>
                </a:lnSpc>
              </a:pPr>
            </a:p>
          </p:txBody>
        </p:sp>
      </p:grpSp>
      <p:sp>
        <p:nvSpPr>
          <p:cNvPr name="TextBox 6" id="6"/>
          <p:cNvSpPr txBox="true"/>
          <p:nvPr/>
        </p:nvSpPr>
        <p:spPr>
          <a:xfrm rot="0">
            <a:off x="1232865" y="5238750"/>
            <a:ext cx="4670508" cy="504825"/>
          </a:xfrm>
          <a:prstGeom prst="rect">
            <a:avLst/>
          </a:prstGeom>
        </p:spPr>
        <p:txBody>
          <a:bodyPr anchor="t" rtlCol="false" tIns="0" lIns="0" bIns="0" rIns="0">
            <a:spAutoFit/>
          </a:bodyPr>
          <a:lstStyle/>
          <a:p>
            <a:pPr algn="ctr">
              <a:lnSpc>
                <a:spcPts val="3779"/>
              </a:lnSpc>
            </a:pPr>
            <a:r>
              <a:rPr lang="en-US" b="true" sz="3150">
                <a:solidFill>
                  <a:srgbClr val="3B82F6"/>
                </a:solidFill>
                <a:latin typeface="Arimo Bold"/>
                <a:ea typeface="Arimo Bold"/>
                <a:cs typeface="Arimo Bold"/>
                <a:sym typeface="Arimo Bold"/>
              </a:rPr>
              <a:t>Auto-Renew</a:t>
            </a:r>
          </a:p>
        </p:txBody>
      </p:sp>
      <p:sp>
        <p:nvSpPr>
          <p:cNvPr name="TextBox 7" id="7"/>
          <p:cNvSpPr txBox="true"/>
          <p:nvPr/>
        </p:nvSpPr>
        <p:spPr>
          <a:xfrm rot="0">
            <a:off x="1344070" y="5824538"/>
            <a:ext cx="4448099" cy="1419225"/>
          </a:xfrm>
          <a:prstGeom prst="rect">
            <a:avLst/>
          </a:prstGeom>
        </p:spPr>
        <p:txBody>
          <a:bodyPr anchor="t" rtlCol="false" tIns="0" lIns="0" bIns="0" rIns="0">
            <a:spAutoFit/>
          </a:bodyPr>
          <a:lstStyle/>
          <a:p>
            <a:pPr algn="ctr">
              <a:lnSpc>
                <a:spcPts val="4050"/>
              </a:lnSpc>
            </a:pPr>
            <a:r>
              <a:rPr lang="en-US" sz="2250">
                <a:solidFill>
                  <a:srgbClr val="000000"/>
                </a:solidFill>
                <a:latin typeface="Inter"/>
                <a:ea typeface="Inter"/>
                <a:cs typeface="Inter"/>
                <a:sym typeface="Inter"/>
              </a:rPr>
              <a:t>&gt;80% of users enabled. Strongest indicator of customer loyalty and low churn.</a:t>
            </a:r>
          </a:p>
        </p:txBody>
      </p:sp>
      <p:grpSp>
        <p:nvGrpSpPr>
          <p:cNvPr name="Group 8" id="8"/>
          <p:cNvGrpSpPr/>
          <p:nvPr/>
        </p:nvGrpSpPr>
        <p:grpSpPr>
          <a:xfrm rot="0">
            <a:off x="6378972" y="3957638"/>
            <a:ext cx="5544122" cy="3805619"/>
            <a:chOff x="0" y="0"/>
            <a:chExt cx="1460180" cy="1002303"/>
          </a:xfrm>
        </p:grpSpPr>
        <p:sp>
          <p:nvSpPr>
            <p:cNvPr name="Freeform 9" id="9"/>
            <p:cNvSpPr/>
            <p:nvPr/>
          </p:nvSpPr>
          <p:spPr>
            <a:xfrm flipH="false" flipV="false" rot="0">
              <a:off x="0" y="0"/>
              <a:ext cx="1460180" cy="1002303"/>
            </a:xfrm>
            <a:custGeom>
              <a:avLst/>
              <a:gdLst/>
              <a:ahLst/>
              <a:cxnLst/>
              <a:rect r="r" b="b" t="t" l="l"/>
              <a:pathLst>
                <a:path h="1002303" w="1460180">
                  <a:moveTo>
                    <a:pt x="23739" y="0"/>
                  </a:moveTo>
                  <a:lnTo>
                    <a:pt x="1436441" y="0"/>
                  </a:lnTo>
                  <a:cubicBezTo>
                    <a:pt x="1442737" y="0"/>
                    <a:pt x="1448775" y="2501"/>
                    <a:pt x="1453227" y="6953"/>
                  </a:cubicBezTo>
                  <a:cubicBezTo>
                    <a:pt x="1457679" y="11405"/>
                    <a:pt x="1460180" y="17443"/>
                    <a:pt x="1460180" y="23739"/>
                  </a:cubicBezTo>
                  <a:lnTo>
                    <a:pt x="1460180" y="978564"/>
                  </a:lnTo>
                  <a:cubicBezTo>
                    <a:pt x="1460180" y="991675"/>
                    <a:pt x="1449552" y="1002303"/>
                    <a:pt x="1436441" y="1002303"/>
                  </a:cubicBezTo>
                  <a:lnTo>
                    <a:pt x="23739" y="1002303"/>
                  </a:lnTo>
                  <a:cubicBezTo>
                    <a:pt x="10628" y="1002303"/>
                    <a:pt x="0" y="991675"/>
                    <a:pt x="0" y="978564"/>
                  </a:cubicBezTo>
                  <a:lnTo>
                    <a:pt x="0" y="23739"/>
                  </a:lnTo>
                  <a:cubicBezTo>
                    <a:pt x="0" y="10628"/>
                    <a:pt x="10628" y="0"/>
                    <a:pt x="23739" y="0"/>
                  </a:cubicBezTo>
                  <a:close/>
                </a:path>
              </a:pathLst>
            </a:custGeom>
            <a:solidFill>
              <a:srgbClr val="FEFEFE"/>
            </a:solidFill>
            <a:ln w="38100" cap="sq">
              <a:solidFill>
                <a:srgbClr val="000000"/>
              </a:solidFill>
              <a:prstDash val="solid"/>
              <a:miter/>
            </a:ln>
          </p:spPr>
        </p:sp>
        <p:sp>
          <p:nvSpPr>
            <p:cNvPr name="TextBox 10" id="10"/>
            <p:cNvSpPr txBox="true"/>
            <p:nvPr/>
          </p:nvSpPr>
          <p:spPr>
            <a:xfrm>
              <a:off x="0" y="-133350"/>
              <a:ext cx="1460180" cy="1135653"/>
            </a:xfrm>
            <a:prstGeom prst="rect">
              <a:avLst/>
            </a:prstGeom>
          </p:spPr>
          <p:txBody>
            <a:bodyPr anchor="ctr" rtlCol="false" tIns="50800" lIns="50800" bIns="50800" rIns="50800"/>
            <a:lstStyle/>
            <a:p>
              <a:pPr algn="ctr">
                <a:lnSpc>
                  <a:spcPts val="4050"/>
                </a:lnSpc>
              </a:pPr>
            </a:p>
          </p:txBody>
        </p:sp>
      </p:grpSp>
      <p:sp>
        <p:nvSpPr>
          <p:cNvPr name="TextBox 11" id="11"/>
          <p:cNvSpPr txBox="true"/>
          <p:nvPr/>
        </p:nvSpPr>
        <p:spPr>
          <a:xfrm rot="0">
            <a:off x="6852539" y="5238750"/>
            <a:ext cx="4670508" cy="504825"/>
          </a:xfrm>
          <a:prstGeom prst="rect">
            <a:avLst/>
          </a:prstGeom>
        </p:spPr>
        <p:txBody>
          <a:bodyPr anchor="t" rtlCol="false" tIns="0" lIns="0" bIns="0" rIns="0">
            <a:spAutoFit/>
          </a:bodyPr>
          <a:lstStyle/>
          <a:p>
            <a:pPr algn="ctr">
              <a:lnSpc>
                <a:spcPts val="3779"/>
              </a:lnSpc>
            </a:pPr>
            <a:r>
              <a:rPr lang="en-US" b="true" sz="3150">
                <a:solidFill>
                  <a:srgbClr val="3B82F6"/>
                </a:solidFill>
                <a:latin typeface="Arimo Bold"/>
                <a:ea typeface="Arimo Bold"/>
                <a:cs typeface="Arimo Bold"/>
                <a:sym typeface="Arimo Bold"/>
              </a:rPr>
              <a:t>Payment Patterns</a:t>
            </a:r>
          </a:p>
        </p:txBody>
      </p:sp>
      <p:sp>
        <p:nvSpPr>
          <p:cNvPr name="TextBox 12" id="12"/>
          <p:cNvSpPr txBox="true"/>
          <p:nvPr/>
        </p:nvSpPr>
        <p:spPr>
          <a:xfrm rot="0">
            <a:off x="6963744" y="5824538"/>
            <a:ext cx="4448099" cy="1419225"/>
          </a:xfrm>
          <a:prstGeom prst="rect">
            <a:avLst/>
          </a:prstGeom>
        </p:spPr>
        <p:txBody>
          <a:bodyPr anchor="t" rtlCol="false" tIns="0" lIns="0" bIns="0" rIns="0">
            <a:spAutoFit/>
          </a:bodyPr>
          <a:lstStyle/>
          <a:p>
            <a:pPr algn="ctr">
              <a:lnSpc>
                <a:spcPts val="4050"/>
              </a:lnSpc>
            </a:pPr>
            <a:r>
              <a:rPr lang="en-US" sz="2250">
                <a:solidFill>
                  <a:srgbClr val="000000"/>
                </a:solidFill>
                <a:latin typeface="Inter"/>
                <a:ea typeface="Inter"/>
                <a:cs typeface="Inter"/>
                <a:sym typeface="Inter"/>
              </a:rPr>
              <a:t>Method ID 41 is dominant. Short-term plans (30 days) reflect flexible consumption.</a:t>
            </a:r>
          </a:p>
        </p:txBody>
      </p:sp>
      <p:grpSp>
        <p:nvGrpSpPr>
          <p:cNvPr name="Group 13" id="13"/>
          <p:cNvGrpSpPr/>
          <p:nvPr/>
        </p:nvGrpSpPr>
        <p:grpSpPr>
          <a:xfrm rot="0">
            <a:off x="12399344" y="3957638"/>
            <a:ext cx="4743605" cy="3805619"/>
            <a:chOff x="0" y="0"/>
            <a:chExt cx="1249345" cy="1002303"/>
          </a:xfrm>
        </p:grpSpPr>
        <p:sp>
          <p:nvSpPr>
            <p:cNvPr name="Freeform 14" id="14"/>
            <p:cNvSpPr/>
            <p:nvPr/>
          </p:nvSpPr>
          <p:spPr>
            <a:xfrm flipH="false" flipV="false" rot="0">
              <a:off x="0" y="0"/>
              <a:ext cx="1249345" cy="1002303"/>
            </a:xfrm>
            <a:custGeom>
              <a:avLst/>
              <a:gdLst/>
              <a:ahLst/>
              <a:cxnLst/>
              <a:rect r="r" b="b" t="t" l="l"/>
              <a:pathLst>
                <a:path h="1002303" w="1249345">
                  <a:moveTo>
                    <a:pt x="27745" y="0"/>
                  </a:moveTo>
                  <a:lnTo>
                    <a:pt x="1221599" y="0"/>
                  </a:lnTo>
                  <a:cubicBezTo>
                    <a:pt x="1236923" y="0"/>
                    <a:pt x="1249345" y="12422"/>
                    <a:pt x="1249345" y="27745"/>
                  </a:cubicBezTo>
                  <a:lnTo>
                    <a:pt x="1249345" y="974558"/>
                  </a:lnTo>
                  <a:cubicBezTo>
                    <a:pt x="1249345" y="981916"/>
                    <a:pt x="1246421" y="988973"/>
                    <a:pt x="1241218" y="994177"/>
                  </a:cubicBezTo>
                  <a:cubicBezTo>
                    <a:pt x="1236015" y="999380"/>
                    <a:pt x="1228958" y="1002303"/>
                    <a:pt x="1221599" y="1002303"/>
                  </a:cubicBezTo>
                  <a:lnTo>
                    <a:pt x="27745" y="1002303"/>
                  </a:lnTo>
                  <a:cubicBezTo>
                    <a:pt x="12422" y="1002303"/>
                    <a:pt x="0" y="989881"/>
                    <a:pt x="0" y="974558"/>
                  </a:cubicBezTo>
                  <a:lnTo>
                    <a:pt x="0" y="27745"/>
                  </a:lnTo>
                  <a:cubicBezTo>
                    <a:pt x="0" y="12422"/>
                    <a:pt x="12422" y="0"/>
                    <a:pt x="27745" y="0"/>
                  </a:cubicBezTo>
                  <a:close/>
                </a:path>
              </a:pathLst>
            </a:custGeom>
            <a:solidFill>
              <a:srgbClr val="FEFEFE"/>
            </a:solidFill>
            <a:ln w="38100" cap="sq">
              <a:solidFill>
                <a:srgbClr val="000000"/>
              </a:solidFill>
              <a:prstDash val="solid"/>
              <a:miter/>
            </a:ln>
          </p:spPr>
        </p:sp>
        <p:sp>
          <p:nvSpPr>
            <p:cNvPr name="TextBox 15" id="15"/>
            <p:cNvSpPr txBox="true"/>
            <p:nvPr/>
          </p:nvSpPr>
          <p:spPr>
            <a:xfrm>
              <a:off x="0" y="-133350"/>
              <a:ext cx="1249345" cy="1135653"/>
            </a:xfrm>
            <a:prstGeom prst="rect">
              <a:avLst/>
            </a:prstGeom>
          </p:spPr>
          <p:txBody>
            <a:bodyPr anchor="ctr" rtlCol="false" tIns="50800" lIns="50800" bIns="50800" rIns="50800"/>
            <a:lstStyle/>
            <a:p>
              <a:pPr algn="ctr">
                <a:lnSpc>
                  <a:spcPts val="4050"/>
                </a:lnSpc>
              </a:pPr>
            </a:p>
          </p:txBody>
        </p:sp>
      </p:grpSp>
      <p:sp>
        <p:nvSpPr>
          <p:cNvPr name="TextBox 16" id="16"/>
          <p:cNvSpPr txBox="true"/>
          <p:nvPr/>
        </p:nvSpPr>
        <p:spPr>
          <a:xfrm rot="0">
            <a:off x="12472213" y="5238750"/>
            <a:ext cx="4670736" cy="504825"/>
          </a:xfrm>
          <a:prstGeom prst="rect">
            <a:avLst/>
          </a:prstGeom>
        </p:spPr>
        <p:txBody>
          <a:bodyPr anchor="t" rtlCol="false" tIns="0" lIns="0" bIns="0" rIns="0">
            <a:spAutoFit/>
          </a:bodyPr>
          <a:lstStyle/>
          <a:p>
            <a:pPr algn="ctr">
              <a:lnSpc>
                <a:spcPts val="3779"/>
              </a:lnSpc>
            </a:pPr>
            <a:r>
              <a:rPr lang="en-US" b="true" sz="3150">
                <a:solidFill>
                  <a:srgbClr val="3B82F6"/>
                </a:solidFill>
                <a:latin typeface="Arimo Bold"/>
                <a:ea typeface="Arimo Bold"/>
                <a:cs typeface="Arimo Bold"/>
                <a:sym typeface="Arimo Bold"/>
              </a:rPr>
              <a:t>Listening Logs</a:t>
            </a:r>
          </a:p>
        </p:txBody>
      </p:sp>
      <p:sp>
        <p:nvSpPr>
          <p:cNvPr name="TextBox 17" id="17"/>
          <p:cNvSpPr txBox="true"/>
          <p:nvPr/>
        </p:nvSpPr>
        <p:spPr>
          <a:xfrm rot="0">
            <a:off x="12583417" y="5824538"/>
            <a:ext cx="4448327" cy="1419225"/>
          </a:xfrm>
          <a:prstGeom prst="rect">
            <a:avLst/>
          </a:prstGeom>
        </p:spPr>
        <p:txBody>
          <a:bodyPr anchor="t" rtlCol="false" tIns="0" lIns="0" bIns="0" rIns="0">
            <a:spAutoFit/>
          </a:bodyPr>
          <a:lstStyle/>
          <a:p>
            <a:pPr algn="ctr">
              <a:lnSpc>
                <a:spcPts val="4050"/>
              </a:lnSpc>
            </a:pPr>
            <a:r>
              <a:rPr lang="en-US" sz="2250">
                <a:solidFill>
                  <a:srgbClr val="000000"/>
                </a:solidFill>
                <a:latin typeface="Inter"/>
                <a:ea typeface="Inter"/>
                <a:cs typeface="Inter"/>
                <a:sym typeface="Inter"/>
              </a:rPr>
              <a:t>Completion rates and daily listening duration trends predict engagement decay.</a:t>
            </a:r>
          </a:p>
        </p:txBody>
      </p:sp>
      <p:grpSp>
        <p:nvGrpSpPr>
          <p:cNvPr name="Group 18" id="18"/>
          <p:cNvGrpSpPr/>
          <p:nvPr/>
        </p:nvGrpSpPr>
        <p:grpSpPr>
          <a:xfrm rot="0">
            <a:off x="3225105" y="4200525"/>
            <a:ext cx="685800" cy="685800"/>
            <a:chOff x="0" y="0"/>
            <a:chExt cx="914400" cy="914400"/>
          </a:xfrm>
        </p:grpSpPr>
        <p:sp>
          <p:nvSpPr>
            <p:cNvPr name="Freeform 19" id="19"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3"/>
              <a:stretch>
                <a:fillRect l="0" t="0" r="-2083" b="0"/>
              </a:stretch>
            </a:blipFill>
          </p:spPr>
        </p:sp>
      </p:grpSp>
      <p:grpSp>
        <p:nvGrpSpPr>
          <p:cNvPr name="Group 20" id="20"/>
          <p:cNvGrpSpPr/>
          <p:nvPr/>
        </p:nvGrpSpPr>
        <p:grpSpPr>
          <a:xfrm rot="0">
            <a:off x="8801926" y="4200525"/>
            <a:ext cx="771525" cy="685800"/>
            <a:chOff x="0" y="0"/>
            <a:chExt cx="1028700" cy="914400"/>
          </a:xfrm>
        </p:grpSpPr>
        <p:sp>
          <p:nvSpPr>
            <p:cNvPr name="Freeform 21" id="21" descr="image.png"/>
            <p:cNvSpPr/>
            <p:nvPr/>
          </p:nvSpPr>
          <p:spPr>
            <a:xfrm flipH="false" flipV="false" rot="0">
              <a:off x="0" y="0"/>
              <a:ext cx="1028700" cy="914400"/>
            </a:xfrm>
            <a:custGeom>
              <a:avLst/>
              <a:gdLst/>
              <a:ahLst/>
              <a:cxnLst/>
              <a:rect r="r" b="b" t="t" l="l"/>
              <a:pathLst>
                <a:path h="914400" w="1028700">
                  <a:moveTo>
                    <a:pt x="0" y="0"/>
                  </a:moveTo>
                  <a:lnTo>
                    <a:pt x="1028700" y="0"/>
                  </a:lnTo>
                  <a:lnTo>
                    <a:pt x="1028700" y="914400"/>
                  </a:lnTo>
                  <a:lnTo>
                    <a:pt x="0" y="914400"/>
                  </a:lnTo>
                  <a:lnTo>
                    <a:pt x="0" y="0"/>
                  </a:lnTo>
                  <a:close/>
                </a:path>
              </a:pathLst>
            </a:custGeom>
            <a:blipFill>
              <a:blip r:embed="rId4"/>
              <a:stretch>
                <a:fillRect l="0" t="0" r="-1851" b="0"/>
              </a:stretch>
            </a:blipFill>
          </p:spPr>
        </p:sp>
      </p:grpSp>
      <p:grpSp>
        <p:nvGrpSpPr>
          <p:cNvPr name="Group 22" id="22"/>
          <p:cNvGrpSpPr/>
          <p:nvPr/>
        </p:nvGrpSpPr>
        <p:grpSpPr>
          <a:xfrm rot="0">
            <a:off x="14464681" y="4200525"/>
            <a:ext cx="685800" cy="685800"/>
            <a:chOff x="0" y="0"/>
            <a:chExt cx="914400" cy="914400"/>
          </a:xfrm>
        </p:grpSpPr>
        <p:sp>
          <p:nvSpPr>
            <p:cNvPr name="Freeform 23" id="23"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5"/>
              <a:stretch>
                <a:fillRect l="0" t="0" r="-2083" b="0"/>
              </a:stretch>
            </a:blip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7319" y="2415081"/>
            <a:ext cx="8743570" cy="5825403"/>
          </a:xfrm>
          <a:custGeom>
            <a:avLst/>
            <a:gdLst/>
            <a:ahLst/>
            <a:cxnLst/>
            <a:rect r="r" b="b" t="t" l="l"/>
            <a:pathLst>
              <a:path h="5825403" w="8743570">
                <a:moveTo>
                  <a:pt x="0" y="0"/>
                </a:moveTo>
                <a:lnTo>
                  <a:pt x="8743569" y="0"/>
                </a:lnTo>
                <a:lnTo>
                  <a:pt x="8743569" y="5825403"/>
                </a:lnTo>
                <a:lnTo>
                  <a:pt x="0" y="5825403"/>
                </a:lnTo>
                <a:lnTo>
                  <a:pt x="0" y="0"/>
                </a:lnTo>
                <a:close/>
              </a:path>
            </a:pathLst>
          </a:custGeom>
          <a:blipFill>
            <a:blip r:embed="rId3"/>
            <a:stretch>
              <a:fillRect l="0" t="0" r="0" b="0"/>
            </a:stretch>
          </a:blipFill>
        </p:spPr>
      </p:sp>
      <p:sp>
        <p:nvSpPr>
          <p:cNvPr name="TextBox 3" id="3"/>
          <p:cNvSpPr txBox="true"/>
          <p:nvPr/>
        </p:nvSpPr>
        <p:spPr>
          <a:xfrm rot="0">
            <a:off x="263341" y="381000"/>
            <a:ext cx="17848903"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Muli Bold"/>
                <a:ea typeface="Muli Bold"/>
                <a:cs typeface="Muli Bold"/>
                <a:sym typeface="Muli Bold"/>
              </a:rPr>
              <a:t>Feature Aggregation (msno-level)</a:t>
            </a:r>
          </a:p>
        </p:txBody>
      </p:sp>
      <p:sp>
        <p:nvSpPr>
          <p:cNvPr name="TextBox 4" id="4"/>
          <p:cNvSpPr txBox="true"/>
          <p:nvPr/>
        </p:nvSpPr>
        <p:spPr>
          <a:xfrm rot="0">
            <a:off x="9144000" y="3224178"/>
            <a:ext cx="8572500" cy="2533650"/>
          </a:xfrm>
          <a:prstGeom prst="rect">
            <a:avLst/>
          </a:prstGeom>
        </p:spPr>
        <p:txBody>
          <a:bodyPr anchor="t" rtlCol="false" tIns="0" lIns="0" bIns="0" rIns="0">
            <a:spAutoFit/>
          </a:bodyPr>
          <a:lstStyle/>
          <a:p>
            <a:pPr algn="l">
              <a:lnSpc>
                <a:spcPts val="4050"/>
              </a:lnSpc>
            </a:pPr>
            <a:r>
              <a:rPr lang="en-US" sz="2250">
                <a:solidFill>
                  <a:srgbClr val="000000"/>
                </a:solidFill>
                <a:latin typeface="Inter"/>
                <a:ea typeface="Inter"/>
                <a:cs typeface="Inter"/>
                <a:sym typeface="Inter"/>
              </a:rPr>
              <a:t>Raw logs were aggregated by msno across lifetime, 30-day, 15-day, and final-snapshot windows using sum, mean, and std features. Short-term delta features between 30-day and 15-day windows were also added.</a:t>
            </a:r>
          </a:p>
          <a:p>
            <a:pPr algn="l">
              <a:lnSpc>
                <a:spcPts val="4050"/>
              </a:lnSpc>
            </a:pPr>
          </a:p>
        </p:txBody>
      </p:sp>
      <p:sp>
        <p:nvSpPr>
          <p:cNvPr name="TextBox 5" id="5"/>
          <p:cNvSpPr txBox="true"/>
          <p:nvPr/>
        </p:nvSpPr>
        <p:spPr>
          <a:xfrm rot="0">
            <a:off x="7800975" y="5426869"/>
            <a:ext cx="157162" cy="438150"/>
          </a:xfrm>
          <a:prstGeom prst="rect">
            <a:avLst/>
          </a:prstGeom>
        </p:spPr>
        <p:txBody>
          <a:bodyPr anchor="t" rtlCol="false" tIns="0" lIns="0" bIns="0" rIns="0">
            <a:spAutoFit/>
          </a:bodyPr>
          <a:lstStyle/>
          <a:p>
            <a:pPr algn="l">
              <a:lnSpc>
                <a:spcPts val="2700"/>
              </a:lnSpc>
            </a:pPr>
            <a:r>
              <a:rPr lang="en-US" sz="2250">
                <a:solidFill>
                  <a:srgbClr val="94A3B8"/>
                </a:solidFill>
                <a:latin typeface="Inter"/>
                <a:ea typeface="Inter"/>
                <a:cs typeface="Inter"/>
                <a:sym typeface="Inter"/>
              </a:rPr>
              <a:t>•</a:t>
            </a:r>
          </a:p>
        </p:txBody>
      </p:sp>
      <p:sp>
        <p:nvSpPr>
          <p:cNvPr name="TextBox 6" id="6"/>
          <p:cNvSpPr txBox="true"/>
          <p:nvPr/>
        </p:nvSpPr>
        <p:spPr>
          <a:xfrm rot="0">
            <a:off x="9534525" y="5303044"/>
            <a:ext cx="8181975" cy="476250"/>
          </a:xfrm>
          <a:prstGeom prst="rect">
            <a:avLst/>
          </a:prstGeom>
        </p:spPr>
        <p:txBody>
          <a:bodyPr anchor="t" rtlCol="false" tIns="0" lIns="0" bIns="0" rIns="0">
            <a:spAutoFit/>
          </a:bodyPr>
          <a:lstStyle/>
          <a:p>
            <a:pPr algn="l">
              <a:lnSpc>
                <a:spcPts val="4050"/>
              </a:lnSpc>
            </a:pPr>
            <a:r>
              <a:rPr lang="en-US" b="true" sz="2250">
                <a:solidFill>
                  <a:srgbClr val="000000"/>
                </a:solidFill>
                <a:latin typeface="Inter Bold"/>
                <a:ea typeface="Inter Bold"/>
                <a:cs typeface="Inter Bold"/>
                <a:sym typeface="Inter Bold"/>
              </a:rPr>
              <a:t>Lifetime:</a:t>
            </a:r>
            <a:r>
              <a:rPr lang="en-US" sz="2250">
                <a:solidFill>
                  <a:srgbClr val="000000"/>
                </a:solidFill>
                <a:latin typeface="Inter"/>
                <a:ea typeface="Inter"/>
                <a:cs typeface="Inter"/>
                <a:sym typeface="Inter"/>
              </a:rPr>
              <a:t> Cumulative usage &amp; payment history.</a:t>
            </a:r>
          </a:p>
        </p:txBody>
      </p:sp>
      <p:sp>
        <p:nvSpPr>
          <p:cNvPr name="TextBox 7" id="7"/>
          <p:cNvSpPr txBox="true"/>
          <p:nvPr/>
        </p:nvSpPr>
        <p:spPr>
          <a:xfrm rot="0">
            <a:off x="7800975" y="5998369"/>
            <a:ext cx="157162" cy="438150"/>
          </a:xfrm>
          <a:prstGeom prst="rect">
            <a:avLst/>
          </a:prstGeom>
        </p:spPr>
        <p:txBody>
          <a:bodyPr anchor="t" rtlCol="false" tIns="0" lIns="0" bIns="0" rIns="0">
            <a:spAutoFit/>
          </a:bodyPr>
          <a:lstStyle/>
          <a:p>
            <a:pPr algn="l">
              <a:lnSpc>
                <a:spcPts val="2700"/>
              </a:lnSpc>
            </a:pPr>
            <a:r>
              <a:rPr lang="en-US" sz="2250">
                <a:solidFill>
                  <a:srgbClr val="94A3B8"/>
                </a:solidFill>
                <a:latin typeface="Inter"/>
                <a:ea typeface="Inter"/>
                <a:cs typeface="Inter"/>
                <a:sym typeface="Inter"/>
              </a:rPr>
              <a:t>•</a:t>
            </a:r>
          </a:p>
        </p:txBody>
      </p:sp>
      <p:sp>
        <p:nvSpPr>
          <p:cNvPr name="TextBox 8" id="8"/>
          <p:cNvSpPr txBox="true"/>
          <p:nvPr/>
        </p:nvSpPr>
        <p:spPr>
          <a:xfrm rot="0">
            <a:off x="9534525" y="5874544"/>
            <a:ext cx="8181975" cy="561975"/>
          </a:xfrm>
          <a:prstGeom prst="rect">
            <a:avLst/>
          </a:prstGeom>
        </p:spPr>
        <p:txBody>
          <a:bodyPr anchor="t" rtlCol="false" tIns="0" lIns="0" bIns="0" rIns="0">
            <a:spAutoFit/>
          </a:bodyPr>
          <a:lstStyle/>
          <a:p>
            <a:pPr algn="l">
              <a:lnSpc>
                <a:spcPts val="4050"/>
              </a:lnSpc>
            </a:pPr>
            <a:r>
              <a:rPr lang="en-US" b="true" sz="2250">
                <a:solidFill>
                  <a:srgbClr val="000000"/>
                </a:solidFill>
                <a:latin typeface="Inter Bold"/>
                <a:ea typeface="Inter Bold"/>
                <a:cs typeface="Inter Bold"/>
                <a:sym typeface="Inter Bold"/>
              </a:rPr>
              <a:t>Recency:</a:t>
            </a:r>
            <a:r>
              <a:rPr lang="en-US" sz="2250">
                <a:solidFill>
                  <a:srgbClr val="000000"/>
                </a:solidFill>
                <a:latin typeface="Inter"/>
                <a:ea typeface="Inter"/>
                <a:cs typeface="Inter"/>
                <a:sym typeface="Inter"/>
              </a:rPr>
              <a:t> Activity in the last 15/30 days.</a:t>
            </a:r>
          </a:p>
        </p:txBody>
      </p:sp>
      <p:sp>
        <p:nvSpPr>
          <p:cNvPr name="TextBox 9" id="9"/>
          <p:cNvSpPr txBox="true"/>
          <p:nvPr/>
        </p:nvSpPr>
        <p:spPr>
          <a:xfrm rot="0">
            <a:off x="7800975" y="6569869"/>
            <a:ext cx="157162" cy="438150"/>
          </a:xfrm>
          <a:prstGeom prst="rect">
            <a:avLst/>
          </a:prstGeom>
        </p:spPr>
        <p:txBody>
          <a:bodyPr anchor="t" rtlCol="false" tIns="0" lIns="0" bIns="0" rIns="0">
            <a:spAutoFit/>
          </a:bodyPr>
          <a:lstStyle/>
          <a:p>
            <a:pPr algn="l">
              <a:lnSpc>
                <a:spcPts val="2700"/>
              </a:lnSpc>
            </a:pPr>
            <a:r>
              <a:rPr lang="en-US" sz="2250">
                <a:solidFill>
                  <a:srgbClr val="94A3B8"/>
                </a:solidFill>
                <a:latin typeface="Inter"/>
                <a:ea typeface="Inter"/>
                <a:cs typeface="Inter"/>
                <a:sym typeface="Inter"/>
              </a:rPr>
              <a:t>•</a:t>
            </a:r>
          </a:p>
        </p:txBody>
      </p:sp>
      <p:sp>
        <p:nvSpPr>
          <p:cNvPr name="TextBox 10" id="10"/>
          <p:cNvSpPr txBox="true"/>
          <p:nvPr/>
        </p:nvSpPr>
        <p:spPr>
          <a:xfrm rot="0">
            <a:off x="9534525" y="6446044"/>
            <a:ext cx="8181975" cy="561975"/>
          </a:xfrm>
          <a:prstGeom prst="rect">
            <a:avLst/>
          </a:prstGeom>
        </p:spPr>
        <p:txBody>
          <a:bodyPr anchor="t" rtlCol="false" tIns="0" lIns="0" bIns="0" rIns="0">
            <a:spAutoFit/>
          </a:bodyPr>
          <a:lstStyle/>
          <a:p>
            <a:pPr algn="l">
              <a:lnSpc>
                <a:spcPts val="4050"/>
              </a:lnSpc>
            </a:pPr>
            <a:r>
              <a:rPr lang="en-US" b="true" sz="2250">
                <a:solidFill>
                  <a:srgbClr val="000000"/>
                </a:solidFill>
                <a:latin typeface="Inter Bold"/>
                <a:ea typeface="Inter Bold"/>
                <a:cs typeface="Inter Bold"/>
                <a:sym typeface="Inter Bold"/>
              </a:rPr>
              <a:t>Final Snapshot:</a:t>
            </a:r>
            <a:r>
              <a:rPr lang="en-US" sz="2250">
                <a:solidFill>
                  <a:srgbClr val="000000"/>
                </a:solidFill>
                <a:latin typeface="Inter"/>
                <a:ea typeface="Inter"/>
                <a:cs typeface="Inter"/>
                <a:sym typeface="Inter"/>
              </a:rPr>
              <a:t> Day before the prediction cutoff.</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3341" y="381000"/>
            <a:ext cx="17848903"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Muli Bold"/>
                <a:ea typeface="Muli Bold"/>
                <a:cs typeface="Muli Bold"/>
                <a:sym typeface="Muli Bold"/>
              </a:rPr>
              <a:t>Feature Aggregation (msno-level)</a:t>
            </a:r>
          </a:p>
        </p:txBody>
      </p:sp>
      <p:sp>
        <p:nvSpPr>
          <p:cNvPr name="TextBox 3" id="3"/>
          <p:cNvSpPr txBox="true"/>
          <p:nvPr/>
        </p:nvSpPr>
        <p:spPr>
          <a:xfrm rot="0">
            <a:off x="857250" y="3879132"/>
            <a:ext cx="16573500" cy="586607"/>
          </a:xfrm>
          <a:prstGeom prst="rect">
            <a:avLst/>
          </a:prstGeom>
        </p:spPr>
        <p:txBody>
          <a:bodyPr anchor="t" rtlCol="false" tIns="0" lIns="0" bIns="0" rIns="0">
            <a:spAutoFit/>
          </a:bodyPr>
          <a:lstStyle/>
          <a:p>
            <a:pPr algn="ctr">
              <a:lnSpc>
                <a:spcPts val="4102"/>
              </a:lnSpc>
            </a:pPr>
            <a:r>
              <a:rPr lang="en-US" b="true" sz="2137">
                <a:solidFill>
                  <a:srgbClr val="1E3A8A"/>
                </a:solidFill>
                <a:latin typeface="Lato Bold"/>
                <a:ea typeface="Lato Bold"/>
                <a:cs typeface="Lato Bold"/>
                <a:sym typeface="Lato Bold"/>
              </a:rPr>
              <a:t>We aggregated raw logs across different windows to capture short-term momentum shifts.</a:t>
            </a:r>
          </a:p>
        </p:txBody>
      </p:sp>
      <p:grpSp>
        <p:nvGrpSpPr>
          <p:cNvPr name="Group 4" id="4"/>
          <p:cNvGrpSpPr/>
          <p:nvPr/>
        </p:nvGrpSpPr>
        <p:grpSpPr>
          <a:xfrm rot="0">
            <a:off x="857250" y="5894489"/>
            <a:ext cx="16573500" cy="42862"/>
            <a:chOff x="0" y="0"/>
            <a:chExt cx="22098000" cy="57150"/>
          </a:xfrm>
        </p:grpSpPr>
        <p:sp>
          <p:nvSpPr>
            <p:cNvPr name="Freeform 5" id="5"/>
            <p:cNvSpPr/>
            <p:nvPr/>
          </p:nvSpPr>
          <p:spPr>
            <a:xfrm flipH="false" flipV="false" rot="0">
              <a:off x="0" y="0"/>
              <a:ext cx="22098000" cy="57150"/>
            </a:xfrm>
            <a:custGeom>
              <a:avLst/>
              <a:gdLst/>
              <a:ahLst/>
              <a:cxnLst/>
              <a:rect r="r" b="b" t="t" l="l"/>
              <a:pathLst>
                <a:path h="57150" w="22098000">
                  <a:moveTo>
                    <a:pt x="0" y="0"/>
                  </a:moveTo>
                  <a:lnTo>
                    <a:pt x="22098000" y="0"/>
                  </a:lnTo>
                  <a:lnTo>
                    <a:pt x="22098000" y="57150"/>
                  </a:lnTo>
                  <a:lnTo>
                    <a:pt x="0" y="57150"/>
                  </a:lnTo>
                  <a:close/>
                </a:path>
              </a:pathLst>
            </a:custGeom>
            <a:solidFill>
              <a:srgbClr val="CBD5E1"/>
            </a:solidFill>
          </p:spPr>
        </p:sp>
      </p:grpSp>
      <p:sp>
        <p:nvSpPr>
          <p:cNvPr name="TextBox 6" id="6"/>
          <p:cNvSpPr txBox="true"/>
          <p:nvPr/>
        </p:nvSpPr>
        <p:spPr>
          <a:xfrm rot="0">
            <a:off x="732949" y="6475514"/>
            <a:ext cx="5220653" cy="619125"/>
          </a:xfrm>
          <a:prstGeom prst="rect">
            <a:avLst/>
          </a:prstGeom>
        </p:spPr>
        <p:txBody>
          <a:bodyPr anchor="t" rtlCol="false" tIns="0" lIns="0" bIns="0" rIns="0">
            <a:spAutoFit/>
          </a:bodyPr>
          <a:lstStyle/>
          <a:p>
            <a:pPr algn="ctr">
              <a:lnSpc>
                <a:spcPts val="3779"/>
              </a:lnSpc>
            </a:pPr>
            <a:r>
              <a:rPr lang="en-US" b="true" sz="3150">
                <a:solidFill>
                  <a:srgbClr val="1E40AF"/>
                </a:solidFill>
                <a:latin typeface="Poppins Bold"/>
                <a:ea typeface="Poppins Bold"/>
                <a:cs typeface="Poppins Bold"/>
                <a:sym typeface="Poppins Bold"/>
              </a:rPr>
              <a:t>Lifetime Window</a:t>
            </a:r>
          </a:p>
        </p:txBody>
      </p:sp>
      <p:sp>
        <p:nvSpPr>
          <p:cNvPr name="TextBox 7" id="7"/>
          <p:cNvSpPr txBox="true"/>
          <p:nvPr/>
        </p:nvSpPr>
        <p:spPr>
          <a:xfrm rot="0">
            <a:off x="857250" y="7085114"/>
            <a:ext cx="4972050" cy="1020813"/>
          </a:xfrm>
          <a:prstGeom prst="rect">
            <a:avLst/>
          </a:prstGeom>
        </p:spPr>
        <p:txBody>
          <a:bodyPr anchor="t" rtlCol="false" tIns="0" lIns="0" bIns="0" rIns="0">
            <a:spAutoFit/>
          </a:bodyPr>
          <a:lstStyle/>
          <a:p>
            <a:pPr algn="ctr">
              <a:lnSpc>
                <a:spcPts val="4102"/>
              </a:lnSpc>
            </a:pPr>
            <a:r>
              <a:rPr lang="en-US" sz="2137">
                <a:solidFill>
                  <a:srgbClr val="475569"/>
                </a:solidFill>
                <a:latin typeface="Lato"/>
                <a:ea typeface="Lato"/>
                <a:cs typeface="Lato"/>
                <a:sym typeface="Lato"/>
              </a:rPr>
              <a:t>Cumulative usage &amp; payment history totals.</a:t>
            </a:r>
          </a:p>
        </p:txBody>
      </p:sp>
      <p:sp>
        <p:nvSpPr>
          <p:cNvPr name="TextBox 8" id="8"/>
          <p:cNvSpPr txBox="true"/>
          <p:nvPr/>
        </p:nvSpPr>
        <p:spPr>
          <a:xfrm rot="0">
            <a:off x="6533674" y="6475514"/>
            <a:ext cx="5220653" cy="619125"/>
          </a:xfrm>
          <a:prstGeom prst="rect">
            <a:avLst/>
          </a:prstGeom>
        </p:spPr>
        <p:txBody>
          <a:bodyPr anchor="t" rtlCol="false" tIns="0" lIns="0" bIns="0" rIns="0">
            <a:spAutoFit/>
          </a:bodyPr>
          <a:lstStyle/>
          <a:p>
            <a:pPr algn="ctr">
              <a:lnSpc>
                <a:spcPts val="3779"/>
              </a:lnSpc>
            </a:pPr>
            <a:r>
              <a:rPr lang="en-US" b="true" sz="3150">
                <a:solidFill>
                  <a:srgbClr val="1E40AF"/>
                </a:solidFill>
                <a:latin typeface="Poppins Bold"/>
                <a:ea typeface="Poppins Bold"/>
                <a:cs typeface="Poppins Bold"/>
                <a:sym typeface="Poppins Bold"/>
              </a:rPr>
              <a:t>Recency (30d / 15d)</a:t>
            </a:r>
          </a:p>
        </p:txBody>
      </p:sp>
      <p:sp>
        <p:nvSpPr>
          <p:cNvPr name="TextBox 9" id="9"/>
          <p:cNvSpPr txBox="true"/>
          <p:nvPr/>
        </p:nvSpPr>
        <p:spPr>
          <a:xfrm rot="0">
            <a:off x="6657975" y="7085114"/>
            <a:ext cx="4972050" cy="1020813"/>
          </a:xfrm>
          <a:prstGeom prst="rect">
            <a:avLst/>
          </a:prstGeom>
        </p:spPr>
        <p:txBody>
          <a:bodyPr anchor="t" rtlCol="false" tIns="0" lIns="0" bIns="0" rIns="0">
            <a:spAutoFit/>
          </a:bodyPr>
          <a:lstStyle/>
          <a:p>
            <a:pPr algn="ctr">
              <a:lnSpc>
                <a:spcPts val="4102"/>
              </a:lnSpc>
            </a:pPr>
            <a:r>
              <a:rPr lang="en-US" sz="2137">
                <a:solidFill>
                  <a:srgbClr val="475569"/>
                </a:solidFill>
                <a:latin typeface="Lato"/>
                <a:ea typeface="Lato"/>
                <a:cs typeface="Lato"/>
                <a:sym typeface="Lato"/>
              </a:rPr>
              <a:t>Capturing delta features between the last 15 and 30 days.</a:t>
            </a:r>
          </a:p>
        </p:txBody>
      </p:sp>
      <p:sp>
        <p:nvSpPr>
          <p:cNvPr name="TextBox 10" id="10"/>
          <p:cNvSpPr txBox="true"/>
          <p:nvPr/>
        </p:nvSpPr>
        <p:spPr>
          <a:xfrm rot="0">
            <a:off x="12334399" y="6475514"/>
            <a:ext cx="5220653" cy="619125"/>
          </a:xfrm>
          <a:prstGeom prst="rect">
            <a:avLst/>
          </a:prstGeom>
        </p:spPr>
        <p:txBody>
          <a:bodyPr anchor="t" rtlCol="false" tIns="0" lIns="0" bIns="0" rIns="0">
            <a:spAutoFit/>
          </a:bodyPr>
          <a:lstStyle/>
          <a:p>
            <a:pPr algn="ctr">
              <a:lnSpc>
                <a:spcPts val="3779"/>
              </a:lnSpc>
            </a:pPr>
            <a:r>
              <a:rPr lang="en-US" b="true" sz="3150">
                <a:solidFill>
                  <a:srgbClr val="1E40AF"/>
                </a:solidFill>
                <a:latin typeface="Poppins Bold"/>
                <a:ea typeface="Poppins Bold"/>
                <a:cs typeface="Poppins Bold"/>
                <a:sym typeface="Poppins Bold"/>
              </a:rPr>
              <a:t>Final Snapshot</a:t>
            </a:r>
          </a:p>
        </p:txBody>
      </p:sp>
      <p:sp>
        <p:nvSpPr>
          <p:cNvPr name="TextBox 11" id="11"/>
          <p:cNvSpPr txBox="true"/>
          <p:nvPr/>
        </p:nvSpPr>
        <p:spPr>
          <a:xfrm rot="0">
            <a:off x="12458700" y="7085114"/>
            <a:ext cx="4972050" cy="1020813"/>
          </a:xfrm>
          <a:prstGeom prst="rect">
            <a:avLst/>
          </a:prstGeom>
        </p:spPr>
        <p:txBody>
          <a:bodyPr anchor="t" rtlCol="false" tIns="0" lIns="0" bIns="0" rIns="0">
            <a:spAutoFit/>
          </a:bodyPr>
          <a:lstStyle/>
          <a:p>
            <a:pPr algn="ctr">
              <a:lnSpc>
                <a:spcPts val="4102"/>
              </a:lnSpc>
            </a:pPr>
            <a:r>
              <a:rPr lang="en-US" sz="2137">
                <a:solidFill>
                  <a:srgbClr val="475569"/>
                </a:solidFill>
                <a:latin typeface="Lato"/>
                <a:ea typeface="Lato"/>
                <a:cs typeface="Lato"/>
                <a:sym typeface="Lato"/>
              </a:rPr>
              <a:t>Activity status one day prior to prediction cutoff.</a:t>
            </a:r>
          </a:p>
        </p:txBody>
      </p:sp>
      <p:grpSp>
        <p:nvGrpSpPr>
          <p:cNvPr name="Group 12" id="12"/>
          <p:cNvGrpSpPr/>
          <p:nvPr/>
        </p:nvGrpSpPr>
        <p:grpSpPr>
          <a:xfrm rot="0">
            <a:off x="3171825" y="5751614"/>
            <a:ext cx="342900" cy="342900"/>
            <a:chOff x="0" y="0"/>
            <a:chExt cx="457200" cy="457200"/>
          </a:xfrm>
        </p:grpSpPr>
        <p:sp>
          <p:nvSpPr>
            <p:cNvPr name="Freeform 13" id="13"/>
            <p:cNvSpPr/>
            <p:nvPr/>
          </p:nvSpPr>
          <p:spPr>
            <a:xfrm flipH="false" flipV="false" rot="0">
              <a:off x="0" y="0"/>
              <a:ext cx="457200" cy="457200"/>
            </a:xfrm>
            <a:custGeom>
              <a:avLst/>
              <a:gdLst/>
              <a:ahLst/>
              <a:cxnLst/>
              <a:rect r="r" b="b" t="t" l="l"/>
              <a:pathLst>
                <a:path h="457200" w="457200">
                  <a:moveTo>
                    <a:pt x="0" y="228600"/>
                  </a:moveTo>
                  <a:cubicBezTo>
                    <a:pt x="0" y="102362"/>
                    <a:pt x="102362" y="0"/>
                    <a:pt x="228600" y="0"/>
                  </a:cubicBezTo>
                  <a:cubicBezTo>
                    <a:pt x="354838" y="0"/>
                    <a:pt x="457200" y="102362"/>
                    <a:pt x="457200" y="228600"/>
                  </a:cubicBezTo>
                  <a:cubicBezTo>
                    <a:pt x="457200" y="354838"/>
                    <a:pt x="354838" y="457200"/>
                    <a:pt x="228600" y="457200"/>
                  </a:cubicBezTo>
                  <a:cubicBezTo>
                    <a:pt x="102362" y="457200"/>
                    <a:pt x="0" y="354838"/>
                    <a:pt x="0" y="228600"/>
                  </a:cubicBezTo>
                  <a:close/>
                </a:path>
              </a:pathLst>
            </a:custGeom>
            <a:solidFill>
              <a:srgbClr val="1E3A8A"/>
            </a:solidFill>
          </p:spPr>
        </p:sp>
      </p:grpSp>
      <p:grpSp>
        <p:nvGrpSpPr>
          <p:cNvPr name="Group 14" id="14"/>
          <p:cNvGrpSpPr/>
          <p:nvPr/>
        </p:nvGrpSpPr>
        <p:grpSpPr>
          <a:xfrm rot="0">
            <a:off x="8972550" y="5751614"/>
            <a:ext cx="342900" cy="342900"/>
            <a:chOff x="0" y="0"/>
            <a:chExt cx="457200" cy="457200"/>
          </a:xfrm>
        </p:grpSpPr>
        <p:sp>
          <p:nvSpPr>
            <p:cNvPr name="Freeform 15" id="15"/>
            <p:cNvSpPr/>
            <p:nvPr/>
          </p:nvSpPr>
          <p:spPr>
            <a:xfrm flipH="false" flipV="false" rot="0">
              <a:off x="0" y="0"/>
              <a:ext cx="457200" cy="457200"/>
            </a:xfrm>
            <a:custGeom>
              <a:avLst/>
              <a:gdLst/>
              <a:ahLst/>
              <a:cxnLst/>
              <a:rect r="r" b="b" t="t" l="l"/>
              <a:pathLst>
                <a:path h="457200" w="457200">
                  <a:moveTo>
                    <a:pt x="0" y="228600"/>
                  </a:moveTo>
                  <a:cubicBezTo>
                    <a:pt x="0" y="102362"/>
                    <a:pt x="102362" y="0"/>
                    <a:pt x="228600" y="0"/>
                  </a:cubicBezTo>
                  <a:cubicBezTo>
                    <a:pt x="354838" y="0"/>
                    <a:pt x="457200" y="102362"/>
                    <a:pt x="457200" y="228600"/>
                  </a:cubicBezTo>
                  <a:cubicBezTo>
                    <a:pt x="457200" y="354838"/>
                    <a:pt x="354838" y="457200"/>
                    <a:pt x="228600" y="457200"/>
                  </a:cubicBezTo>
                  <a:cubicBezTo>
                    <a:pt x="102362" y="457200"/>
                    <a:pt x="0" y="354838"/>
                    <a:pt x="0" y="228600"/>
                  </a:cubicBezTo>
                  <a:close/>
                </a:path>
              </a:pathLst>
            </a:custGeom>
            <a:solidFill>
              <a:srgbClr val="1E3A8A"/>
            </a:solidFill>
          </p:spPr>
        </p:sp>
      </p:grpSp>
      <p:grpSp>
        <p:nvGrpSpPr>
          <p:cNvPr name="Group 16" id="16"/>
          <p:cNvGrpSpPr/>
          <p:nvPr/>
        </p:nvGrpSpPr>
        <p:grpSpPr>
          <a:xfrm rot="0">
            <a:off x="14773275" y="5751614"/>
            <a:ext cx="342900" cy="342900"/>
            <a:chOff x="0" y="0"/>
            <a:chExt cx="457200" cy="457200"/>
          </a:xfrm>
        </p:grpSpPr>
        <p:sp>
          <p:nvSpPr>
            <p:cNvPr name="Freeform 17" id="17"/>
            <p:cNvSpPr/>
            <p:nvPr/>
          </p:nvSpPr>
          <p:spPr>
            <a:xfrm flipH="false" flipV="false" rot="0">
              <a:off x="0" y="0"/>
              <a:ext cx="457200" cy="457200"/>
            </a:xfrm>
            <a:custGeom>
              <a:avLst/>
              <a:gdLst/>
              <a:ahLst/>
              <a:cxnLst/>
              <a:rect r="r" b="b" t="t" l="l"/>
              <a:pathLst>
                <a:path h="457200" w="457200">
                  <a:moveTo>
                    <a:pt x="0" y="228600"/>
                  </a:moveTo>
                  <a:cubicBezTo>
                    <a:pt x="0" y="102362"/>
                    <a:pt x="102362" y="0"/>
                    <a:pt x="228600" y="0"/>
                  </a:cubicBezTo>
                  <a:cubicBezTo>
                    <a:pt x="354838" y="0"/>
                    <a:pt x="457200" y="102362"/>
                    <a:pt x="457200" y="228600"/>
                  </a:cubicBezTo>
                  <a:cubicBezTo>
                    <a:pt x="457200" y="354838"/>
                    <a:pt x="354838" y="457200"/>
                    <a:pt x="228600" y="457200"/>
                  </a:cubicBezTo>
                  <a:cubicBezTo>
                    <a:pt x="102362" y="457200"/>
                    <a:pt x="0" y="354838"/>
                    <a:pt x="0" y="228600"/>
                  </a:cubicBezTo>
                  <a:close/>
                </a:path>
              </a:pathLst>
            </a:custGeom>
            <a:solidFill>
              <a:srgbClr val="1E3A8A"/>
            </a:solidFill>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99680" y="-1470403"/>
            <a:ext cx="14026196" cy="11628992"/>
          </a:xfrm>
          <a:custGeom>
            <a:avLst/>
            <a:gdLst/>
            <a:ahLst/>
            <a:cxnLst/>
            <a:rect r="r" b="b" t="t" l="l"/>
            <a:pathLst>
              <a:path h="11628992" w="14026196">
                <a:moveTo>
                  <a:pt x="0" y="0"/>
                </a:moveTo>
                <a:lnTo>
                  <a:pt x="14026196" y="0"/>
                </a:lnTo>
                <a:lnTo>
                  <a:pt x="14026196" y="11628992"/>
                </a:lnTo>
                <a:lnTo>
                  <a:pt x="0" y="11628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40046" y="4034946"/>
            <a:ext cx="14207909" cy="2217107"/>
            <a:chOff x="0" y="0"/>
            <a:chExt cx="18943878" cy="2956143"/>
          </a:xfrm>
        </p:grpSpPr>
        <p:sp>
          <p:nvSpPr>
            <p:cNvPr name="TextBox 4" id="4"/>
            <p:cNvSpPr txBox="true"/>
            <p:nvPr/>
          </p:nvSpPr>
          <p:spPr>
            <a:xfrm rot="0">
              <a:off x="0" y="0"/>
              <a:ext cx="18943878" cy="1727200"/>
            </a:xfrm>
            <a:prstGeom prst="rect">
              <a:avLst/>
            </a:prstGeom>
          </p:spPr>
          <p:txBody>
            <a:bodyPr anchor="t" rtlCol="false" tIns="0" lIns="0" bIns="0" rIns="0">
              <a:spAutoFit/>
            </a:bodyPr>
            <a:lstStyle/>
            <a:p>
              <a:pPr algn="ctr" marL="0" indent="0" lvl="0">
                <a:lnSpc>
                  <a:spcPts val="10200"/>
                </a:lnSpc>
                <a:spcBef>
                  <a:spcPct val="0"/>
                </a:spcBef>
              </a:pPr>
              <a:r>
                <a:rPr lang="en-US" b="true" sz="8500">
                  <a:solidFill>
                    <a:srgbClr val="000000"/>
                  </a:solidFill>
                  <a:latin typeface="Muli Bold"/>
                  <a:ea typeface="Muli Bold"/>
                  <a:cs typeface="Muli Bold"/>
                  <a:sym typeface="Muli Bold"/>
                </a:rPr>
                <a:t>Model training</a:t>
              </a:r>
            </a:p>
          </p:txBody>
        </p:sp>
        <p:sp>
          <p:nvSpPr>
            <p:cNvPr name="TextBox 5" id="5"/>
            <p:cNvSpPr txBox="true"/>
            <p:nvPr/>
          </p:nvSpPr>
          <p:spPr>
            <a:xfrm rot="0">
              <a:off x="0" y="2317968"/>
              <a:ext cx="18943878" cy="638175"/>
            </a:xfrm>
            <a:prstGeom prst="rect">
              <a:avLst/>
            </a:prstGeom>
          </p:spPr>
          <p:txBody>
            <a:bodyPr anchor="t" rtlCol="false" tIns="0" lIns="0" bIns="0" rIns="0">
              <a:spAutoFit/>
            </a:bodyPr>
            <a:lstStyle/>
            <a:p>
              <a:pPr algn="ctr">
                <a:lnSpc>
                  <a:spcPts val="3900"/>
                </a:lnSpc>
              </a:pPr>
              <a:r>
                <a:rPr lang="en-US" sz="3000">
                  <a:solidFill>
                    <a:srgbClr val="000000"/>
                  </a:solidFill>
                  <a:latin typeface="Muli"/>
                  <a:ea typeface="Muli"/>
                  <a:cs typeface="Muli"/>
                  <a:sym typeface="Muli"/>
                </a:rPr>
                <a:t>Train/Test Split, Algorithm Selection, Optimizing Hyperparameters</a:t>
              </a:r>
            </a:p>
          </p:txBody>
        </p:sp>
      </p:gr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3341" y="381000"/>
            <a:ext cx="17167409"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Muli Bold"/>
                <a:ea typeface="Muli Bold"/>
                <a:cs typeface="Muli Bold"/>
                <a:sym typeface="Muli Bold"/>
              </a:rPr>
              <a:t>Temporal Validation Split</a:t>
            </a:r>
          </a:p>
        </p:txBody>
      </p:sp>
      <p:sp>
        <p:nvSpPr>
          <p:cNvPr name="TextBox 3" id="3"/>
          <p:cNvSpPr txBox="true"/>
          <p:nvPr/>
        </p:nvSpPr>
        <p:spPr>
          <a:xfrm rot="0">
            <a:off x="1028700" y="2738438"/>
            <a:ext cx="16573500" cy="990600"/>
          </a:xfrm>
          <a:prstGeom prst="rect">
            <a:avLst/>
          </a:prstGeom>
        </p:spPr>
        <p:txBody>
          <a:bodyPr anchor="t" rtlCol="false" tIns="0" lIns="0" bIns="0" rIns="0">
            <a:spAutoFit/>
          </a:bodyPr>
          <a:lstStyle/>
          <a:p>
            <a:pPr algn="ctr">
              <a:lnSpc>
                <a:spcPts val="4050"/>
              </a:lnSpc>
            </a:pPr>
            <a:r>
              <a:rPr lang="en-US" sz="2250">
                <a:solidFill>
                  <a:srgbClr val="000000"/>
                </a:solidFill>
                <a:latin typeface="Inter"/>
                <a:ea typeface="Inter"/>
                <a:cs typeface="Inter"/>
                <a:sym typeface="Inter"/>
              </a:rPr>
              <a:t>Use a time-based split to avoid leakage: February 2017 for training, March 2017 for validation, and April 2017 for test/prediction.</a:t>
            </a:r>
          </a:p>
        </p:txBody>
      </p:sp>
      <p:sp>
        <p:nvSpPr>
          <p:cNvPr name="TextBox 4" id="4"/>
          <p:cNvSpPr txBox="true"/>
          <p:nvPr/>
        </p:nvSpPr>
        <p:spPr>
          <a:xfrm rot="0">
            <a:off x="857250" y="7939088"/>
            <a:ext cx="16573500" cy="561975"/>
          </a:xfrm>
          <a:prstGeom prst="rect">
            <a:avLst/>
          </a:prstGeom>
        </p:spPr>
        <p:txBody>
          <a:bodyPr anchor="t" rtlCol="false" tIns="0" lIns="0" bIns="0" rIns="0">
            <a:spAutoFit/>
          </a:bodyPr>
          <a:lstStyle/>
          <a:p>
            <a:pPr algn="ctr">
              <a:lnSpc>
                <a:spcPts val="4050"/>
              </a:lnSpc>
            </a:pPr>
            <a:r>
              <a:rPr lang="en-US" sz="2250" i="true">
                <a:solidFill>
                  <a:srgbClr val="2DD4BF"/>
                </a:solidFill>
                <a:latin typeface="Inter Italics"/>
                <a:ea typeface="Inter Italics"/>
                <a:cs typeface="Inter Italics"/>
                <a:sym typeface="Inter Italics"/>
              </a:rPr>
              <a:t>Class Imbalance handled via </a:t>
            </a:r>
            <a:r>
              <a:rPr lang="en-US" b="true" sz="2250" i="true">
                <a:solidFill>
                  <a:srgbClr val="2DD4BF"/>
                </a:solidFill>
                <a:latin typeface="Inter Bold Italics"/>
                <a:ea typeface="Inter Bold Italics"/>
                <a:cs typeface="Inter Bold Italics"/>
                <a:sym typeface="Inter Bold Italics"/>
              </a:rPr>
              <a:t>scale_pos_weight</a:t>
            </a:r>
            <a:r>
              <a:rPr lang="en-US" sz="2250" i="true">
                <a:solidFill>
                  <a:srgbClr val="2DD4BF"/>
                </a:solidFill>
                <a:latin typeface="Inter Italics"/>
                <a:ea typeface="Inter Italics"/>
                <a:cs typeface="Inter Italics"/>
                <a:sym typeface="Inter Italics"/>
              </a:rPr>
              <a:t> in LightGBM.</a:t>
            </a:r>
          </a:p>
        </p:txBody>
      </p:sp>
      <p:grpSp>
        <p:nvGrpSpPr>
          <p:cNvPr name="Group 5" id="5"/>
          <p:cNvGrpSpPr/>
          <p:nvPr/>
        </p:nvGrpSpPr>
        <p:grpSpPr>
          <a:xfrm rot="0">
            <a:off x="857250" y="5957888"/>
            <a:ext cx="16573500" cy="28575"/>
            <a:chOff x="0" y="0"/>
            <a:chExt cx="22098000" cy="38100"/>
          </a:xfrm>
        </p:grpSpPr>
        <p:sp>
          <p:nvSpPr>
            <p:cNvPr name="Freeform 6" id="6"/>
            <p:cNvSpPr/>
            <p:nvPr/>
          </p:nvSpPr>
          <p:spPr>
            <a:xfrm flipH="false" flipV="false" rot="0">
              <a:off x="0" y="0"/>
              <a:ext cx="22098000" cy="38100"/>
            </a:xfrm>
            <a:custGeom>
              <a:avLst/>
              <a:gdLst/>
              <a:ahLst/>
              <a:cxnLst/>
              <a:rect r="r" b="b" t="t" l="l"/>
              <a:pathLst>
                <a:path h="38100" w="22098000">
                  <a:moveTo>
                    <a:pt x="0" y="0"/>
                  </a:moveTo>
                  <a:lnTo>
                    <a:pt x="22098000" y="0"/>
                  </a:lnTo>
                  <a:lnTo>
                    <a:pt x="22098000" y="38100"/>
                  </a:lnTo>
                  <a:lnTo>
                    <a:pt x="0" y="38100"/>
                  </a:lnTo>
                  <a:close/>
                </a:path>
              </a:pathLst>
            </a:custGeom>
            <a:solidFill>
              <a:srgbClr val="334155"/>
            </a:solidFill>
          </p:spPr>
        </p:sp>
      </p:grpSp>
      <p:sp>
        <p:nvSpPr>
          <p:cNvPr name="TextBox 7" id="7"/>
          <p:cNvSpPr txBox="true"/>
          <p:nvPr/>
        </p:nvSpPr>
        <p:spPr>
          <a:xfrm rot="0">
            <a:off x="732949" y="5467350"/>
            <a:ext cx="5220653" cy="504825"/>
          </a:xfrm>
          <a:prstGeom prst="rect">
            <a:avLst/>
          </a:prstGeom>
        </p:spPr>
        <p:txBody>
          <a:bodyPr anchor="t" rtlCol="false" tIns="0" lIns="0" bIns="0" rIns="0">
            <a:spAutoFit/>
          </a:bodyPr>
          <a:lstStyle/>
          <a:p>
            <a:pPr algn="ctr">
              <a:lnSpc>
                <a:spcPts val="3779"/>
              </a:lnSpc>
            </a:pPr>
            <a:r>
              <a:rPr lang="en-US" b="true" sz="3150">
                <a:solidFill>
                  <a:srgbClr val="2DD4BF"/>
                </a:solidFill>
                <a:latin typeface="Arimo Bold"/>
                <a:ea typeface="Arimo Bold"/>
                <a:cs typeface="Arimo Bold"/>
                <a:sym typeface="Arimo Bold"/>
              </a:rPr>
              <a:t>TRAIN</a:t>
            </a:r>
          </a:p>
        </p:txBody>
      </p:sp>
      <p:sp>
        <p:nvSpPr>
          <p:cNvPr name="TextBox 8" id="8"/>
          <p:cNvSpPr txBox="true"/>
          <p:nvPr/>
        </p:nvSpPr>
        <p:spPr>
          <a:xfrm rot="0">
            <a:off x="857250" y="6219825"/>
            <a:ext cx="4972050" cy="923925"/>
          </a:xfrm>
          <a:prstGeom prst="rect">
            <a:avLst/>
          </a:prstGeom>
        </p:spPr>
        <p:txBody>
          <a:bodyPr anchor="t" rtlCol="false" tIns="0" lIns="0" bIns="0" rIns="0">
            <a:spAutoFit/>
          </a:bodyPr>
          <a:lstStyle/>
          <a:p>
            <a:pPr algn="ctr">
              <a:lnSpc>
                <a:spcPts val="3375"/>
              </a:lnSpc>
            </a:pPr>
            <a:r>
              <a:rPr lang="en-US" sz="2250">
                <a:solidFill>
                  <a:srgbClr val="000000"/>
                </a:solidFill>
                <a:latin typeface="Inter"/>
                <a:ea typeface="Inter"/>
                <a:cs typeface="Inter"/>
                <a:sym typeface="Inter"/>
              </a:rPr>
              <a:t>Expirations in</a:t>
            </a:r>
          </a:p>
          <a:p>
            <a:pPr algn="ctr">
              <a:lnSpc>
                <a:spcPts val="3375"/>
              </a:lnSpc>
            </a:pPr>
            <a:r>
              <a:rPr lang="en-US" sz="2250">
                <a:solidFill>
                  <a:srgbClr val="000000"/>
                </a:solidFill>
                <a:latin typeface="Inter"/>
                <a:ea typeface="Inter"/>
                <a:cs typeface="Inter"/>
                <a:sym typeface="Inter"/>
              </a:rPr>
              <a:t> February 2017</a:t>
            </a:r>
          </a:p>
        </p:txBody>
      </p:sp>
      <p:sp>
        <p:nvSpPr>
          <p:cNvPr name="TextBox 9" id="9"/>
          <p:cNvSpPr txBox="true"/>
          <p:nvPr/>
        </p:nvSpPr>
        <p:spPr>
          <a:xfrm rot="0">
            <a:off x="6533674" y="5481638"/>
            <a:ext cx="5220653" cy="504825"/>
          </a:xfrm>
          <a:prstGeom prst="rect">
            <a:avLst/>
          </a:prstGeom>
        </p:spPr>
        <p:txBody>
          <a:bodyPr anchor="t" rtlCol="false" tIns="0" lIns="0" bIns="0" rIns="0">
            <a:spAutoFit/>
          </a:bodyPr>
          <a:lstStyle/>
          <a:p>
            <a:pPr algn="ctr">
              <a:lnSpc>
                <a:spcPts val="3779"/>
              </a:lnSpc>
            </a:pPr>
            <a:r>
              <a:rPr lang="en-US" b="true" sz="3150">
                <a:solidFill>
                  <a:srgbClr val="2DD4BF"/>
                </a:solidFill>
                <a:latin typeface="Arimo Bold"/>
                <a:ea typeface="Arimo Bold"/>
                <a:cs typeface="Arimo Bold"/>
                <a:sym typeface="Arimo Bold"/>
              </a:rPr>
              <a:t>VALIDATION</a:t>
            </a:r>
          </a:p>
        </p:txBody>
      </p:sp>
      <p:sp>
        <p:nvSpPr>
          <p:cNvPr name="TextBox 10" id="10"/>
          <p:cNvSpPr txBox="true"/>
          <p:nvPr/>
        </p:nvSpPr>
        <p:spPr>
          <a:xfrm rot="0">
            <a:off x="6657975" y="6219825"/>
            <a:ext cx="4972050" cy="923925"/>
          </a:xfrm>
          <a:prstGeom prst="rect">
            <a:avLst/>
          </a:prstGeom>
        </p:spPr>
        <p:txBody>
          <a:bodyPr anchor="t" rtlCol="false" tIns="0" lIns="0" bIns="0" rIns="0">
            <a:spAutoFit/>
          </a:bodyPr>
          <a:lstStyle/>
          <a:p>
            <a:pPr algn="ctr">
              <a:lnSpc>
                <a:spcPts val="3375"/>
              </a:lnSpc>
            </a:pPr>
            <a:r>
              <a:rPr lang="en-US" sz="2250">
                <a:solidFill>
                  <a:srgbClr val="000000"/>
                </a:solidFill>
                <a:latin typeface="Inter"/>
                <a:ea typeface="Inter"/>
                <a:cs typeface="Inter"/>
                <a:sym typeface="Inter"/>
              </a:rPr>
              <a:t>Expirations in</a:t>
            </a:r>
          </a:p>
          <a:p>
            <a:pPr algn="ctr">
              <a:lnSpc>
                <a:spcPts val="3375"/>
              </a:lnSpc>
            </a:pPr>
            <a:r>
              <a:rPr lang="en-US" sz="2250">
                <a:solidFill>
                  <a:srgbClr val="000000"/>
                </a:solidFill>
                <a:latin typeface="Inter"/>
                <a:ea typeface="Inter"/>
                <a:cs typeface="Inter"/>
                <a:sym typeface="Inter"/>
              </a:rPr>
              <a:t> March 2017</a:t>
            </a:r>
          </a:p>
        </p:txBody>
      </p:sp>
      <p:sp>
        <p:nvSpPr>
          <p:cNvPr name="TextBox 11" id="11"/>
          <p:cNvSpPr txBox="true"/>
          <p:nvPr/>
        </p:nvSpPr>
        <p:spPr>
          <a:xfrm rot="0">
            <a:off x="12334399" y="5467350"/>
            <a:ext cx="5220653" cy="504825"/>
          </a:xfrm>
          <a:prstGeom prst="rect">
            <a:avLst/>
          </a:prstGeom>
        </p:spPr>
        <p:txBody>
          <a:bodyPr anchor="t" rtlCol="false" tIns="0" lIns="0" bIns="0" rIns="0">
            <a:spAutoFit/>
          </a:bodyPr>
          <a:lstStyle/>
          <a:p>
            <a:pPr algn="ctr">
              <a:lnSpc>
                <a:spcPts val="3779"/>
              </a:lnSpc>
            </a:pPr>
            <a:r>
              <a:rPr lang="en-US" b="true" sz="3150">
                <a:solidFill>
                  <a:srgbClr val="2DD4BF"/>
                </a:solidFill>
                <a:latin typeface="Arimo Bold"/>
                <a:ea typeface="Arimo Bold"/>
                <a:cs typeface="Arimo Bold"/>
                <a:sym typeface="Arimo Bold"/>
              </a:rPr>
              <a:t>TEST</a:t>
            </a:r>
          </a:p>
        </p:txBody>
      </p:sp>
      <p:sp>
        <p:nvSpPr>
          <p:cNvPr name="TextBox 12" id="12"/>
          <p:cNvSpPr txBox="true"/>
          <p:nvPr/>
        </p:nvSpPr>
        <p:spPr>
          <a:xfrm rot="0">
            <a:off x="12458700" y="6219825"/>
            <a:ext cx="4972050" cy="923925"/>
          </a:xfrm>
          <a:prstGeom prst="rect">
            <a:avLst/>
          </a:prstGeom>
        </p:spPr>
        <p:txBody>
          <a:bodyPr anchor="t" rtlCol="false" tIns="0" lIns="0" bIns="0" rIns="0">
            <a:spAutoFit/>
          </a:bodyPr>
          <a:lstStyle/>
          <a:p>
            <a:pPr algn="ctr">
              <a:lnSpc>
                <a:spcPts val="3375"/>
              </a:lnSpc>
            </a:pPr>
            <a:r>
              <a:rPr lang="en-US" sz="2250">
                <a:solidFill>
                  <a:srgbClr val="000000"/>
                </a:solidFill>
                <a:latin typeface="Inter"/>
                <a:ea typeface="Inter"/>
                <a:cs typeface="Inter"/>
                <a:sym typeface="Inter"/>
              </a:rPr>
              <a:t>Expirations in</a:t>
            </a:r>
          </a:p>
          <a:p>
            <a:pPr algn="ctr">
              <a:lnSpc>
                <a:spcPts val="3375"/>
              </a:lnSpc>
            </a:pPr>
            <a:r>
              <a:rPr lang="en-US" sz="2250">
                <a:solidFill>
                  <a:srgbClr val="000000"/>
                </a:solidFill>
                <a:latin typeface="Inter"/>
                <a:ea typeface="Inter"/>
                <a:cs typeface="Inter"/>
                <a:sym typeface="Inter"/>
              </a:rPr>
              <a:t> April 2017</a:t>
            </a:r>
          </a:p>
        </p:txBody>
      </p:sp>
      <p:grpSp>
        <p:nvGrpSpPr>
          <p:cNvPr name="Group 13" id="13"/>
          <p:cNvGrpSpPr/>
          <p:nvPr/>
        </p:nvGrpSpPr>
        <p:grpSpPr>
          <a:xfrm rot="0">
            <a:off x="2957512" y="4557712"/>
            <a:ext cx="771525" cy="771525"/>
            <a:chOff x="0" y="0"/>
            <a:chExt cx="1028700" cy="1028700"/>
          </a:xfrm>
        </p:grpSpPr>
        <p:sp>
          <p:nvSpPr>
            <p:cNvPr name="Freeform 14" id="14"/>
            <p:cNvSpPr/>
            <p:nvPr/>
          </p:nvSpPr>
          <p:spPr>
            <a:xfrm flipH="false" flipV="false" rot="0">
              <a:off x="38100" y="3810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2DD4BF"/>
            </a:solidFill>
          </p:spPr>
        </p:sp>
        <p:sp>
          <p:nvSpPr>
            <p:cNvPr name="Freeform 15" id="15"/>
            <p:cNvSpPr/>
            <p:nvPr/>
          </p:nvSpPr>
          <p:spPr>
            <a:xfrm flipH="false" flipV="false" rot="0">
              <a:off x="0" y="0"/>
              <a:ext cx="1028700" cy="1028700"/>
            </a:xfrm>
            <a:custGeom>
              <a:avLst/>
              <a:gdLst/>
              <a:ahLst/>
              <a:cxnLst/>
              <a:rect r="r" b="b" t="t" l="l"/>
              <a:pathLst>
                <a:path h="1028700" w="1028700">
                  <a:moveTo>
                    <a:pt x="0" y="514350"/>
                  </a:moveTo>
                  <a:cubicBezTo>
                    <a:pt x="0" y="230251"/>
                    <a:pt x="230251" y="0"/>
                    <a:pt x="514350" y="0"/>
                  </a:cubicBezTo>
                  <a:cubicBezTo>
                    <a:pt x="521462" y="0"/>
                    <a:pt x="528447" y="2032"/>
                    <a:pt x="534543" y="5842"/>
                  </a:cubicBezTo>
                  <a:lnTo>
                    <a:pt x="514350" y="38100"/>
                  </a:lnTo>
                  <a:lnTo>
                    <a:pt x="514350" y="0"/>
                  </a:lnTo>
                  <a:lnTo>
                    <a:pt x="514350" y="38100"/>
                  </a:lnTo>
                  <a:lnTo>
                    <a:pt x="514350" y="0"/>
                  </a:lnTo>
                  <a:cubicBezTo>
                    <a:pt x="798449" y="0"/>
                    <a:pt x="1028700" y="230251"/>
                    <a:pt x="1028700" y="514350"/>
                  </a:cubicBezTo>
                  <a:cubicBezTo>
                    <a:pt x="1028700" y="531876"/>
                    <a:pt x="1016762" y="547116"/>
                    <a:pt x="999871" y="551307"/>
                  </a:cubicBezTo>
                  <a:lnTo>
                    <a:pt x="990600" y="514350"/>
                  </a:lnTo>
                  <a:lnTo>
                    <a:pt x="1028700" y="514350"/>
                  </a:lnTo>
                  <a:cubicBezTo>
                    <a:pt x="1028700" y="798449"/>
                    <a:pt x="798449" y="1028700"/>
                    <a:pt x="514350" y="1028700"/>
                  </a:cubicBezTo>
                  <a:lnTo>
                    <a:pt x="514350" y="990600"/>
                  </a:lnTo>
                  <a:lnTo>
                    <a:pt x="514350" y="1028700"/>
                  </a:lnTo>
                  <a:lnTo>
                    <a:pt x="514350" y="990600"/>
                  </a:lnTo>
                  <a:lnTo>
                    <a:pt x="514350" y="1028700"/>
                  </a:lnTo>
                  <a:cubicBezTo>
                    <a:pt x="230251" y="1028700"/>
                    <a:pt x="0" y="798449"/>
                    <a:pt x="0" y="514350"/>
                  </a:cubicBezTo>
                  <a:cubicBezTo>
                    <a:pt x="0" y="507238"/>
                    <a:pt x="2032" y="500253"/>
                    <a:pt x="5842" y="494157"/>
                  </a:cubicBezTo>
                  <a:lnTo>
                    <a:pt x="38100" y="514350"/>
                  </a:lnTo>
                  <a:lnTo>
                    <a:pt x="0" y="514350"/>
                  </a:lnTo>
                  <a:moveTo>
                    <a:pt x="76200" y="514350"/>
                  </a:moveTo>
                  <a:cubicBezTo>
                    <a:pt x="76200" y="521462"/>
                    <a:pt x="74168" y="528447"/>
                    <a:pt x="70358" y="534543"/>
                  </a:cubicBezTo>
                  <a:lnTo>
                    <a:pt x="38100" y="514350"/>
                  </a:lnTo>
                  <a:lnTo>
                    <a:pt x="76200" y="514350"/>
                  </a:lnTo>
                  <a:cubicBezTo>
                    <a:pt x="76200" y="756285"/>
                    <a:pt x="272415" y="952500"/>
                    <a:pt x="514350" y="952500"/>
                  </a:cubicBezTo>
                  <a:cubicBezTo>
                    <a:pt x="756285" y="952500"/>
                    <a:pt x="952500" y="756285"/>
                    <a:pt x="952500" y="514350"/>
                  </a:cubicBezTo>
                  <a:cubicBezTo>
                    <a:pt x="952500" y="496824"/>
                    <a:pt x="964438" y="481584"/>
                    <a:pt x="981329" y="477393"/>
                  </a:cubicBezTo>
                  <a:lnTo>
                    <a:pt x="990600" y="514350"/>
                  </a:lnTo>
                  <a:lnTo>
                    <a:pt x="952500" y="514350"/>
                  </a:lnTo>
                  <a:cubicBezTo>
                    <a:pt x="952500" y="272415"/>
                    <a:pt x="756285" y="76200"/>
                    <a:pt x="514350" y="76200"/>
                  </a:cubicBezTo>
                  <a:cubicBezTo>
                    <a:pt x="507238" y="76200"/>
                    <a:pt x="500253" y="74168"/>
                    <a:pt x="494157" y="70358"/>
                  </a:cubicBezTo>
                  <a:lnTo>
                    <a:pt x="514350" y="38100"/>
                  </a:lnTo>
                  <a:lnTo>
                    <a:pt x="514350" y="76200"/>
                  </a:lnTo>
                  <a:cubicBezTo>
                    <a:pt x="272415" y="76200"/>
                    <a:pt x="76200" y="272415"/>
                    <a:pt x="76200" y="514350"/>
                  </a:cubicBezTo>
                  <a:close/>
                </a:path>
              </a:pathLst>
            </a:custGeom>
            <a:solidFill>
              <a:srgbClr val="020617"/>
            </a:solidFill>
          </p:spPr>
        </p:sp>
      </p:grpSp>
      <p:grpSp>
        <p:nvGrpSpPr>
          <p:cNvPr name="Group 16" id="16"/>
          <p:cNvGrpSpPr/>
          <p:nvPr/>
        </p:nvGrpSpPr>
        <p:grpSpPr>
          <a:xfrm rot="0">
            <a:off x="8758238" y="4557712"/>
            <a:ext cx="771525" cy="771525"/>
            <a:chOff x="0" y="0"/>
            <a:chExt cx="1028700" cy="1028700"/>
          </a:xfrm>
        </p:grpSpPr>
        <p:sp>
          <p:nvSpPr>
            <p:cNvPr name="Freeform 17" id="17"/>
            <p:cNvSpPr/>
            <p:nvPr/>
          </p:nvSpPr>
          <p:spPr>
            <a:xfrm flipH="false" flipV="false" rot="0">
              <a:off x="38100" y="3810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2DD4BF"/>
            </a:solidFill>
          </p:spPr>
        </p:sp>
        <p:sp>
          <p:nvSpPr>
            <p:cNvPr name="Freeform 18" id="18"/>
            <p:cNvSpPr/>
            <p:nvPr/>
          </p:nvSpPr>
          <p:spPr>
            <a:xfrm flipH="false" flipV="false" rot="0">
              <a:off x="0" y="0"/>
              <a:ext cx="1028700" cy="1028700"/>
            </a:xfrm>
            <a:custGeom>
              <a:avLst/>
              <a:gdLst/>
              <a:ahLst/>
              <a:cxnLst/>
              <a:rect r="r" b="b" t="t" l="l"/>
              <a:pathLst>
                <a:path h="1028700" w="1028700">
                  <a:moveTo>
                    <a:pt x="0" y="514350"/>
                  </a:moveTo>
                  <a:cubicBezTo>
                    <a:pt x="0" y="230251"/>
                    <a:pt x="230251" y="0"/>
                    <a:pt x="514350" y="0"/>
                  </a:cubicBezTo>
                  <a:cubicBezTo>
                    <a:pt x="521462" y="0"/>
                    <a:pt x="528447" y="2032"/>
                    <a:pt x="534543" y="5842"/>
                  </a:cubicBezTo>
                  <a:lnTo>
                    <a:pt x="514350" y="38100"/>
                  </a:lnTo>
                  <a:lnTo>
                    <a:pt x="514350" y="0"/>
                  </a:lnTo>
                  <a:lnTo>
                    <a:pt x="514350" y="38100"/>
                  </a:lnTo>
                  <a:lnTo>
                    <a:pt x="514350" y="0"/>
                  </a:lnTo>
                  <a:cubicBezTo>
                    <a:pt x="798449" y="0"/>
                    <a:pt x="1028700" y="230251"/>
                    <a:pt x="1028700" y="514350"/>
                  </a:cubicBezTo>
                  <a:cubicBezTo>
                    <a:pt x="1028700" y="531876"/>
                    <a:pt x="1016762" y="547116"/>
                    <a:pt x="999871" y="551307"/>
                  </a:cubicBezTo>
                  <a:lnTo>
                    <a:pt x="990600" y="514350"/>
                  </a:lnTo>
                  <a:lnTo>
                    <a:pt x="1028700" y="514350"/>
                  </a:lnTo>
                  <a:cubicBezTo>
                    <a:pt x="1028700" y="798449"/>
                    <a:pt x="798449" y="1028700"/>
                    <a:pt x="514350" y="1028700"/>
                  </a:cubicBezTo>
                  <a:lnTo>
                    <a:pt x="514350" y="990600"/>
                  </a:lnTo>
                  <a:lnTo>
                    <a:pt x="514350" y="1028700"/>
                  </a:lnTo>
                  <a:lnTo>
                    <a:pt x="514350" y="990600"/>
                  </a:lnTo>
                  <a:lnTo>
                    <a:pt x="514350" y="1028700"/>
                  </a:lnTo>
                  <a:cubicBezTo>
                    <a:pt x="230251" y="1028700"/>
                    <a:pt x="0" y="798449"/>
                    <a:pt x="0" y="514350"/>
                  </a:cubicBezTo>
                  <a:cubicBezTo>
                    <a:pt x="0" y="507238"/>
                    <a:pt x="2032" y="500253"/>
                    <a:pt x="5842" y="494157"/>
                  </a:cubicBezTo>
                  <a:lnTo>
                    <a:pt x="38100" y="514350"/>
                  </a:lnTo>
                  <a:lnTo>
                    <a:pt x="0" y="514350"/>
                  </a:lnTo>
                  <a:moveTo>
                    <a:pt x="76200" y="514350"/>
                  </a:moveTo>
                  <a:cubicBezTo>
                    <a:pt x="76200" y="521462"/>
                    <a:pt x="74168" y="528447"/>
                    <a:pt x="70358" y="534543"/>
                  </a:cubicBezTo>
                  <a:lnTo>
                    <a:pt x="38100" y="514350"/>
                  </a:lnTo>
                  <a:lnTo>
                    <a:pt x="76200" y="514350"/>
                  </a:lnTo>
                  <a:cubicBezTo>
                    <a:pt x="76200" y="756285"/>
                    <a:pt x="272415" y="952500"/>
                    <a:pt x="514350" y="952500"/>
                  </a:cubicBezTo>
                  <a:cubicBezTo>
                    <a:pt x="756285" y="952500"/>
                    <a:pt x="952500" y="756285"/>
                    <a:pt x="952500" y="514350"/>
                  </a:cubicBezTo>
                  <a:cubicBezTo>
                    <a:pt x="952500" y="496824"/>
                    <a:pt x="964438" y="481584"/>
                    <a:pt x="981329" y="477393"/>
                  </a:cubicBezTo>
                  <a:lnTo>
                    <a:pt x="990600" y="514350"/>
                  </a:lnTo>
                  <a:lnTo>
                    <a:pt x="952500" y="514350"/>
                  </a:lnTo>
                  <a:cubicBezTo>
                    <a:pt x="952500" y="272415"/>
                    <a:pt x="756285" y="76200"/>
                    <a:pt x="514350" y="76200"/>
                  </a:cubicBezTo>
                  <a:cubicBezTo>
                    <a:pt x="507238" y="76200"/>
                    <a:pt x="500253" y="74168"/>
                    <a:pt x="494157" y="70358"/>
                  </a:cubicBezTo>
                  <a:lnTo>
                    <a:pt x="514350" y="38100"/>
                  </a:lnTo>
                  <a:lnTo>
                    <a:pt x="514350" y="76200"/>
                  </a:lnTo>
                  <a:cubicBezTo>
                    <a:pt x="272415" y="76200"/>
                    <a:pt x="76200" y="272415"/>
                    <a:pt x="76200" y="514350"/>
                  </a:cubicBezTo>
                  <a:close/>
                </a:path>
              </a:pathLst>
            </a:custGeom>
            <a:solidFill>
              <a:srgbClr val="020617"/>
            </a:solidFill>
          </p:spPr>
        </p:sp>
      </p:grpSp>
      <p:grpSp>
        <p:nvGrpSpPr>
          <p:cNvPr name="Group 19" id="19"/>
          <p:cNvGrpSpPr/>
          <p:nvPr/>
        </p:nvGrpSpPr>
        <p:grpSpPr>
          <a:xfrm rot="0">
            <a:off x="14558962" y="4557712"/>
            <a:ext cx="771525" cy="771525"/>
            <a:chOff x="0" y="0"/>
            <a:chExt cx="1028700" cy="1028700"/>
          </a:xfrm>
        </p:grpSpPr>
        <p:sp>
          <p:nvSpPr>
            <p:cNvPr name="Freeform 20" id="20"/>
            <p:cNvSpPr/>
            <p:nvPr/>
          </p:nvSpPr>
          <p:spPr>
            <a:xfrm flipH="false" flipV="false" rot="0">
              <a:off x="38100" y="3810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2DD4BF"/>
            </a:solidFill>
          </p:spPr>
        </p:sp>
        <p:sp>
          <p:nvSpPr>
            <p:cNvPr name="Freeform 21" id="21"/>
            <p:cNvSpPr/>
            <p:nvPr/>
          </p:nvSpPr>
          <p:spPr>
            <a:xfrm flipH="false" flipV="false" rot="0">
              <a:off x="0" y="0"/>
              <a:ext cx="1028700" cy="1028700"/>
            </a:xfrm>
            <a:custGeom>
              <a:avLst/>
              <a:gdLst/>
              <a:ahLst/>
              <a:cxnLst/>
              <a:rect r="r" b="b" t="t" l="l"/>
              <a:pathLst>
                <a:path h="1028700" w="1028700">
                  <a:moveTo>
                    <a:pt x="0" y="514350"/>
                  </a:moveTo>
                  <a:cubicBezTo>
                    <a:pt x="0" y="230251"/>
                    <a:pt x="230251" y="0"/>
                    <a:pt x="514350" y="0"/>
                  </a:cubicBezTo>
                  <a:cubicBezTo>
                    <a:pt x="521462" y="0"/>
                    <a:pt x="528447" y="2032"/>
                    <a:pt x="534543" y="5842"/>
                  </a:cubicBezTo>
                  <a:lnTo>
                    <a:pt x="514350" y="38100"/>
                  </a:lnTo>
                  <a:lnTo>
                    <a:pt x="514350" y="0"/>
                  </a:lnTo>
                  <a:lnTo>
                    <a:pt x="514350" y="38100"/>
                  </a:lnTo>
                  <a:lnTo>
                    <a:pt x="514350" y="0"/>
                  </a:lnTo>
                  <a:cubicBezTo>
                    <a:pt x="798449" y="0"/>
                    <a:pt x="1028700" y="230251"/>
                    <a:pt x="1028700" y="514350"/>
                  </a:cubicBezTo>
                  <a:cubicBezTo>
                    <a:pt x="1028700" y="531876"/>
                    <a:pt x="1016762" y="547116"/>
                    <a:pt x="999871" y="551307"/>
                  </a:cubicBezTo>
                  <a:lnTo>
                    <a:pt x="990600" y="514350"/>
                  </a:lnTo>
                  <a:lnTo>
                    <a:pt x="1028700" y="514350"/>
                  </a:lnTo>
                  <a:cubicBezTo>
                    <a:pt x="1028700" y="798449"/>
                    <a:pt x="798449" y="1028700"/>
                    <a:pt x="514350" y="1028700"/>
                  </a:cubicBezTo>
                  <a:lnTo>
                    <a:pt x="514350" y="990600"/>
                  </a:lnTo>
                  <a:lnTo>
                    <a:pt x="514350" y="1028700"/>
                  </a:lnTo>
                  <a:lnTo>
                    <a:pt x="514350" y="990600"/>
                  </a:lnTo>
                  <a:lnTo>
                    <a:pt x="514350" y="1028700"/>
                  </a:lnTo>
                  <a:cubicBezTo>
                    <a:pt x="230251" y="1028700"/>
                    <a:pt x="0" y="798449"/>
                    <a:pt x="0" y="514350"/>
                  </a:cubicBezTo>
                  <a:cubicBezTo>
                    <a:pt x="0" y="507238"/>
                    <a:pt x="2032" y="500253"/>
                    <a:pt x="5842" y="494157"/>
                  </a:cubicBezTo>
                  <a:lnTo>
                    <a:pt x="38100" y="514350"/>
                  </a:lnTo>
                  <a:lnTo>
                    <a:pt x="0" y="514350"/>
                  </a:lnTo>
                  <a:moveTo>
                    <a:pt x="76200" y="514350"/>
                  </a:moveTo>
                  <a:cubicBezTo>
                    <a:pt x="76200" y="521462"/>
                    <a:pt x="74168" y="528447"/>
                    <a:pt x="70358" y="534543"/>
                  </a:cubicBezTo>
                  <a:lnTo>
                    <a:pt x="38100" y="514350"/>
                  </a:lnTo>
                  <a:lnTo>
                    <a:pt x="76200" y="514350"/>
                  </a:lnTo>
                  <a:cubicBezTo>
                    <a:pt x="76200" y="756285"/>
                    <a:pt x="272415" y="952500"/>
                    <a:pt x="514350" y="952500"/>
                  </a:cubicBezTo>
                  <a:cubicBezTo>
                    <a:pt x="756285" y="952500"/>
                    <a:pt x="952500" y="756285"/>
                    <a:pt x="952500" y="514350"/>
                  </a:cubicBezTo>
                  <a:cubicBezTo>
                    <a:pt x="952500" y="496824"/>
                    <a:pt x="964438" y="481584"/>
                    <a:pt x="981329" y="477393"/>
                  </a:cubicBezTo>
                  <a:lnTo>
                    <a:pt x="990600" y="514350"/>
                  </a:lnTo>
                  <a:lnTo>
                    <a:pt x="952500" y="514350"/>
                  </a:lnTo>
                  <a:cubicBezTo>
                    <a:pt x="952500" y="272415"/>
                    <a:pt x="756285" y="76200"/>
                    <a:pt x="514350" y="76200"/>
                  </a:cubicBezTo>
                  <a:cubicBezTo>
                    <a:pt x="507238" y="76200"/>
                    <a:pt x="500253" y="74168"/>
                    <a:pt x="494157" y="70358"/>
                  </a:cubicBezTo>
                  <a:lnTo>
                    <a:pt x="514350" y="38100"/>
                  </a:lnTo>
                  <a:lnTo>
                    <a:pt x="514350" y="76200"/>
                  </a:lnTo>
                  <a:cubicBezTo>
                    <a:pt x="272415" y="76200"/>
                    <a:pt x="76200" y="272415"/>
                    <a:pt x="76200" y="514350"/>
                  </a:cubicBezTo>
                  <a:close/>
                </a:path>
              </a:pathLst>
            </a:custGeom>
            <a:solidFill>
              <a:srgbClr val="020617"/>
            </a:solidFill>
          </p:spPr>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3341" y="381000"/>
            <a:ext cx="17167409"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Muli Bold"/>
                <a:ea typeface="Muli Bold"/>
                <a:cs typeface="Muli Bold"/>
                <a:sym typeface="Muli Bold"/>
              </a:rPr>
              <a:t>Algorithm Selection &amp; Tuning</a:t>
            </a:r>
          </a:p>
        </p:txBody>
      </p:sp>
      <p:grpSp>
        <p:nvGrpSpPr>
          <p:cNvPr name="Group 3" id="3"/>
          <p:cNvGrpSpPr/>
          <p:nvPr/>
        </p:nvGrpSpPr>
        <p:grpSpPr>
          <a:xfrm rot="0">
            <a:off x="857250" y="3817220"/>
            <a:ext cx="5238826" cy="4717332"/>
            <a:chOff x="0" y="0"/>
            <a:chExt cx="6985102" cy="6289777"/>
          </a:xfrm>
        </p:grpSpPr>
        <p:sp>
          <p:nvSpPr>
            <p:cNvPr name="Freeform 4" id="4" descr="image.png"/>
            <p:cNvSpPr/>
            <p:nvPr/>
          </p:nvSpPr>
          <p:spPr>
            <a:xfrm flipH="false" flipV="false" rot="0">
              <a:off x="0" y="0"/>
              <a:ext cx="6985127" cy="6289802"/>
            </a:xfrm>
            <a:custGeom>
              <a:avLst/>
              <a:gdLst/>
              <a:ahLst/>
              <a:cxnLst/>
              <a:rect r="r" b="b" t="t" l="l"/>
              <a:pathLst>
                <a:path h="6289802" w="6985127">
                  <a:moveTo>
                    <a:pt x="0" y="0"/>
                  </a:moveTo>
                  <a:lnTo>
                    <a:pt x="6985127" y="0"/>
                  </a:lnTo>
                  <a:lnTo>
                    <a:pt x="6985127" y="6289802"/>
                  </a:lnTo>
                  <a:lnTo>
                    <a:pt x="0" y="6289802"/>
                  </a:lnTo>
                  <a:lnTo>
                    <a:pt x="0" y="0"/>
                  </a:lnTo>
                  <a:close/>
                </a:path>
              </a:pathLst>
            </a:custGeom>
            <a:blipFill>
              <a:blip r:embed="rId3"/>
              <a:stretch>
                <a:fillRect l="0" t="0" r="0" b="-160"/>
              </a:stretch>
            </a:blipFill>
          </p:spPr>
        </p:sp>
      </p:grpSp>
      <p:grpSp>
        <p:nvGrpSpPr>
          <p:cNvPr name="Group 5" id="5"/>
          <p:cNvGrpSpPr/>
          <p:nvPr/>
        </p:nvGrpSpPr>
        <p:grpSpPr>
          <a:xfrm rot="0">
            <a:off x="6524701" y="3817220"/>
            <a:ext cx="5238826" cy="4717332"/>
            <a:chOff x="0" y="0"/>
            <a:chExt cx="6985102" cy="6289777"/>
          </a:xfrm>
        </p:grpSpPr>
        <p:sp>
          <p:nvSpPr>
            <p:cNvPr name="Freeform 6" id="6" descr="image.png"/>
            <p:cNvSpPr/>
            <p:nvPr/>
          </p:nvSpPr>
          <p:spPr>
            <a:xfrm flipH="false" flipV="false" rot="0">
              <a:off x="0" y="0"/>
              <a:ext cx="6985127" cy="6289802"/>
            </a:xfrm>
            <a:custGeom>
              <a:avLst/>
              <a:gdLst/>
              <a:ahLst/>
              <a:cxnLst/>
              <a:rect r="r" b="b" t="t" l="l"/>
              <a:pathLst>
                <a:path h="6289802" w="6985127">
                  <a:moveTo>
                    <a:pt x="0" y="0"/>
                  </a:moveTo>
                  <a:lnTo>
                    <a:pt x="6985127" y="0"/>
                  </a:lnTo>
                  <a:lnTo>
                    <a:pt x="6985127" y="6289802"/>
                  </a:lnTo>
                  <a:lnTo>
                    <a:pt x="0" y="6289802"/>
                  </a:lnTo>
                  <a:lnTo>
                    <a:pt x="0" y="0"/>
                  </a:lnTo>
                  <a:close/>
                </a:path>
              </a:pathLst>
            </a:custGeom>
            <a:blipFill>
              <a:blip r:embed="rId4"/>
              <a:stretch>
                <a:fillRect l="0" t="0" r="-110" b="0"/>
              </a:stretch>
            </a:blipFill>
          </p:spPr>
        </p:sp>
      </p:grpSp>
      <p:grpSp>
        <p:nvGrpSpPr>
          <p:cNvPr name="Group 7" id="7"/>
          <p:cNvGrpSpPr/>
          <p:nvPr/>
        </p:nvGrpSpPr>
        <p:grpSpPr>
          <a:xfrm rot="0">
            <a:off x="12192152" y="3817220"/>
            <a:ext cx="5238826" cy="4717332"/>
            <a:chOff x="0" y="0"/>
            <a:chExt cx="6985102" cy="6289777"/>
          </a:xfrm>
        </p:grpSpPr>
        <p:sp>
          <p:nvSpPr>
            <p:cNvPr name="Freeform 8" id="8" descr="image.png"/>
            <p:cNvSpPr/>
            <p:nvPr/>
          </p:nvSpPr>
          <p:spPr>
            <a:xfrm flipH="false" flipV="false" rot="0">
              <a:off x="0" y="0"/>
              <a:ext cx="6985127" cy="6289802"/>
            </a:xfrm>
            <a:custGeom>
              <a:avLst/>
              <a:gdLst/>
              <a:ahLst/>
              <a:cxnLst/>
              <a:rect r="r" b="b" t="t" l="l"/>
              <a:pathLst>
                <a:path h="6289802" w="6985127">
                  <a:moveTo>
                    <a:pt x="0" y="0"/>
                  </a:moveTo>
                  <a:lnTo>
                    <a:pt x="6985127" y="0"/>
                  </a:lnTo>
                  <a:lnTo>
                    <a:pt x="6985127" y="6289802"/>
                  </a:lnTo>
                  <a:lnTo>
                    <a:pt x="0" y="6289802"/>
                  </a:lnTo>
                  <a:lnTo>
                    <a:pt x="0" y="0"/>
                  </a:lnTo>
                  <a:close/>
                </a:path>
              </a:pathLst>
            </a:custGeom>
            <a:blipFill>
              <a:blip r:embed="rId5"/>
              <a:stretch>
                <a:fillRect l="0" t="0" r="-110" b="0"/>
              </a:stretch>
            </a:blipFill>
          </p:spPr>
        </p:sp>
      </p:grpSp>
      <p:sp>
        <p:nvSpPr>
          <p:cNvPr name="TextBox 9" id="9"/>
          <p:cNvSpPr txBox="true"/>
          <p:nvPr/>
        </p:nvSpPr>
        <p:spPr>
          <a:xfrm rot="0">
            <a:off x="1343025" y="5226920"/>
            <a:ext cx="4540644" cy="619125"/>
          </a:xfrm>
          <a:prstGeom prst="rect">
            <a:avLst/>
          </a:prstGeom>
        </p:spPr>
        <p:txBody>
          <a:bodyPr anchor="t" rtlCol="false" tIns="0" lIns="0" bIns="0" rIns="0">
            <a:spAutoFit/>
          </a:bodyPr>
          <a:lstStyle/>
          <a:p>
            <a:pPr algn="l">
              <a:lnSpc>
                <a:spcPts val="3779"/>
              </a:lnSpc>
            </a:pPr>
            <a:r>
              <a:rPr lang="en-US" b="true" sz="3150">
                <a:solidFill>
                  <a:srgbClr val="1E40AF"/>
                </a:solidFill>
                <a:latin typeface="Poppins Bold"/>
                <a:ea typeface="Poppins Bold"/>
                <a:cs typeface="Poppins Bold"/>
                <a:sym typeface="Poppins Bold"/>
              </a:rPr>
              <a:t>LightGBM Choice</a:t>
            </a:r>
          </a:p>
        </p:txBody>
      </p:sp>
      <p:sp>
        <p:nvSpPr>
          <p:cNvPr name="TextBox 10" id="10"/>
          <p:cNvSpPr txBox="true"/>
          <p:nvPr/>
        </p:nvSpPr>
        <p:spPr>
          <a:xfrm rot="0">
            <a:off x="1343025" y="5836520"/>
            <a:ext cx="4324426" cy="1455020"/>
          </a:xfrm>
          <a:prstGeom prst="rect">
            <a:avLst/>
          </a:prstGeom>
        </p:spPr>
        <p:txBody>
          <a:bodyPr anchor="t" rtlCol="false" tIns="0" lIns="0" bIns="0" rIns="0">
            <a:spAutoFit/>
          </a:bodyPr>
          <a:lstStyle/>
          <a:p>
            <a:pPr algn="l">
              <a:lnSpc>
                <a:spcPts val="4102"/>
              </a:lnSpc>
            </a:pPr>
            <a:r>
              <a:rPr lang="en-US" sz="2137">
                <a:solidFill>
                  <a:srgbClr val="475569"/>
                </a:solidFill>
                <a:latin typeface="Lato"/>
                <a:ea typeface="Lato"/>
                <a:cs typeface="Lato"/>
                <a:sym typeface="Lato"/>
              </a:rPr>
              <a:t>Superior speed and memory efficiency for tabular data. Handles sparse features effectively.</a:t>
            </a:r>
          </a:p>
        </p:txBody>
      </p:sp>
      <p:sp>
        <p:nvSpPr>
          <p:cNvPr name="TextBox 11" id="11"/>
          <p:cNvSpPr txBox="true"/>
          <p:nvPr/>
        </p:nvSpPr>
        <p:spPr>
          <a:xfrm rot="0">
            <a:off x="7010476" y="5226920"/>
            <a:ext cx="4540644" cy="1219200"/>
          </a:xfrm>
          <a:prstGeom prst="rect">
            <a:avLst/>
          </a:prstGeom>
        </p:spPr>
        <p:txBody>
          <a:bodyPr anchor="t" rtlCol="false" tIns="0" lIns="0" bIns="0" rIns="0">
            <a:spAutoFit/>
          </a:bodyPr>
          <a:lstStyle/>
          <a:p>
            <a:pPr algn="l">
              <a:lnSpc>
                <a:spcPts val="3779"/>
              </a:lnSpc>
            </a:pPr>
            <a:r>
              <a:rPr lang="en-US" b="true" sz="3150">
                <a:solidFill>
                  <a:srgbClr val="1E40AF"/>
                </a:solidFill>
                <a:latin typeface="Poppins Bold"/>
                <a:ea typeface="Poppins Bold"/>
                <a:cs typeface="Poppins Bold"/>
                <a:sym typeface="Poppins Bold"/>
              </a:rPr>
              <a:t>Imbalance Handling</a:t>
            </a:r>
          </a:p>
        </p:txBody>
      </p:sp>
      <p:sp>
        <p:nvSpPr>
          <p:cNvPr name="TextBox 12" id="12"/>
          <p:cNvSpPr txBox="true"/>
          <p:nvPr/>
        </p:nvSpPr>
        <p:spPr>
          <a:xfrm rot="0">
            <a:off x="7010476" y="6436595"/>
            <a:ext cx="4324426" cy="1455020"/>
          </a:xfrm>
          <a:prstGeom prst="rect">
            <a:avLst/>
          </a:prstGeom>
        </p:spPr>
        <p:txBody>
          <a:bodyPr anchor="t" rtlCol="false" tIns="0" lIns="0" bIns="0" rIns="0">
            <a:spAutoFit/>
          </a:bodyPr>
          <a:lstStyle/>
          <a:p>
            <a:pPr algn="l">
              <a:lnSpc>
                <a:spcPts val="4102"/>
              </a:lnSpc>
            </a:pPr>
            <a:r>
              <a:rPr lang="en-US" sz="2137">
                <a:solidFill>
                  <a:srgbClr val="475569"/>
                </a:solidFill>
                <a:latin typeface="Lato"/>
                <a:ea typeface="Lato"/>
                <a:cs typeface="Lato"/>
                <a:sym typeface="Lato"/>
              </a:rPr>
              <a:t>Used </a:t>
            </a:r>
            <a:r>
              <a:rPr lang="en-US" b="true" sz="2137">
                <a:solidFill>
                  <a:srgbClr val="475569"/>
                </a:solidFill>
                <a:latin typeface="Lato Bold"/>
                <a:ea typeface="Lato Bold"/>
                <a:cs typeface="Lato Bold"/>
                <a:sym typeface="Lato Bold"/>
              </a:rPr>
              <a:t>scale_pos_weight</a:t>
            </a:r>
            <a:r>
              <a:rPr lang="en-US" sz="2137">
                <a:solidFill>
                  <a:srgbClr val="475569"/>
                </a:solidFill>
                <a:latin typeface="Lato"/>
                <a:ea typeface="Lato"/>
                <a:cs typeface="Lato"/>
                <a:sym typeface="Lato"/>
              </a:rPr>
              <a:t> to penalize misclassification of churners (the minority class).</a:t>
            </a:r>
          </a:p>
        </p:txBody>
      </p:sp>
      <p:sp>
        <p:nvSpPr>
          <p:cNvPr name="TextBox 13" id="13"/>
          <p:cNvSpPr txBox="true"/>
          <p:nvPr/>
        </p:nvSpPr>
        <p:spPr>
          <a:xfrm rot="0">
            <a:off x="12677927" y="5226920"/>
            <a:ext cx="4540644" cy="619125"/>
          </a:xfrm>
          <a:prstGeom prst="rect">
            <a:avLst/>
          </a:prstGeom>
        </p:spPr>
        <p:txBody>
          <a:bodyPr anchor="t" rtlCol="false" tIns="0" lIns="0" bIns="0" rIns="0">
            <a:spAutoFit/>
          </a:bodyPr>
          <a:lstStyle/>
          <a:p>
            <a:pPr algn="l">
              <a:lnSpc>
                <a:spcPts val="3779"/>
              </a:lnSpc>
            </a:pPr>
            <a:r>
              <a:rPr lang="en-US" b="true" sz="3150">
                <a:solidFill>
                  <a:srgbClr val="1E40AF"/>
                </a:solidFill>
                <a:latin typeface="Poppins Bold"/>
                <a:ea typeface="Poppins Bold"/>
                <a:cs typeface="Poppins Bold"/>
                <a:sym typeface="Poppins Bold"/>
              </a:rPr>
              <a:t>Log-Loss Objective</a:t>
            </a:r>
          </a:p>
        </p:txBody>
      </p:sp>
      <p:sp>
        <p:nvSpPr>
          <p:cNvPr name="TextBox 14" id="14"/>
          <p:cNvSpPr txBox="true"/>
          <p:nvPr/>
        </p:nvSpPr>
        <p:spPr>
          <a:xfrm rot="0">
            <a:off x="12677927" y="5836520"/>
            <a:ext cx="4324426" cy="1455020"/>
          </a:xfrm>
          <a:prstGeom prst="rect">
            <a:avLst/>
          </a:prstGeom>
        </p:spPr>
        <p:txBody>
          <a:bodyPr anchor="t" rtlCol="false" tIns="0" lIns="0" bIns="0" rIns="0">
            <a:spAutoFit/>
          </a:bodyPr>
          <a:lstStyle/>
          <a:p>
            <a:pPr algn="l">
              <a:lnSpc>
                <a:spcPts val="4102"/>
              </a:lnSpc>
            </a:pPr>
            <a:r>
              <a:rPr lang="en-US" sz="2137">
                <a:solidFill>
                  <a:srgbClr val="475569"/>
                </a:solidFill>
                <a:latin typeface="Lato"/>
                <a:ea typeface="Lato"/>
                <a:cs typeface="Lato"/>
                <a:sym typeface="Lato"/>
              </a:rPr>
              <a:t>Optimized for probability confidence rather than just binary labels.</a:t>
            </a:r>
          </a:p>
        </p:txBody>
      </p:sp>
      <p:grpSp>
        <p:nvGrpSpPr>
          <p:cNvPr name="Group 15" id="15"/>
          <p:cNvGrpSpPr/>
          <p:nvPr/>
        </p:nvGrpSpPr>
        <p:grpSpPr>
          <a:xfrm rot="0">
            <a:off x="1343025" y="4317282"/>
            <a:ext cx="442912" cy="500062"/>
            <a:chOff x="0" y="0"/>
            <a:chExt cx="590550" cy="666750"/>
          </a:xfrm>
        </p:grpSpPr>
        <p:sp>
          <p:nvSpPr>
            <p:cNvPr name="Freeform 16" id="16" descr="image.png"/>
            <p:cNvSpPr/>
            <p:nvPr/>
          </p:nvSpPr>
          <p:spPr>
            <a:xfrm flipH="false" flipV="false" rot="0">
              <a:off x="0" y="0"/>
              <a:ext cx="590550" cy="666750"/>
            </a:xfrm>
            <a:custGeom>
              <a:avLst/>
              <a:gdLst/>
              <a:ahLst/>
              <a:cxnLst/>
              <a:rect r="r" b="b" t="t" l="l"/>
              <a:pathLst>
                <a:path h="666750" w="590550">
                  <a:moveTo>
                    <a:pt x="0" y="0"/>
                  </a:moveTo>
                  <a:lnTo>
                    <a:pt x="590550" y="0"/>
                  </a:lnTo>
                  <a:lnTo>
                    <a:pt x="590550" y="666750"/>
                  </a:lnTo>
                  <a:lnTo>
                    <a:pt x="0" y="666750"/>
                  </a:lnTo>
                  <a:lnTo>
                    <a:pt x="0" y="0"/>
                  </a:lnTo>
                  <a:close/>
                </a:path>
              </a:pathLst>
            </a:custGeom>
            <a:blipFill>
              <a:blip r:embed="rId6"/>
              <a:stretch>
                <a:fillRect l="0" t="0" r="0" b="-2857"/>
              </a:stretch>
            </a:blipFill>
          </p:spPr>
        </p:sp>
      </p:grpSp>
      <p:grpSp>
        <p:nvGrpSpPr>
          <p:cNvPr name="Group 17" id="17"/>
          <p:cNvGrpSpPr/>
          <p:nvPr/>
        </p:nvGrpSpPr>
        <p:grpSpPr>
          <a:xfrm rot="0">
            <a:off x="7010476" y="4317282"/>
            <a:ext cx="628650" cy="500062"/>
            <a:chOff x="0" y="0"/>
            <a:chExt cx="838200" cy="666750"/>
          </a:xfrm>
        </p:grpSpPr>
        <p:sp>
          <p:nvSpPr>
            <p:cNvPr name="Freeform 18" id="18" descr="image.png"/>
            <p:cNvSpPr/>
            <p:nvPr/>
          </p:nvSpPr>
          <p:spPr>
            <a:xfrm flipH="false" flipV="false" rot="0">
              <a:off x="0" y="0"/>
              <a:ext cx="838200" cy="666750"/>
            </a:xfrm>
            <a:custGeom>
              <a:avLst/>
              <a:gdLst/>
              <a:ahLst/>
              <a:cxnLst/>
              <a:rect r="r" b="b" t="t" l="l"/>
              <a:pathLst>
                <a:path h="666750" w="838200">
                  <a:moveTo>
                    <a:pt x="0" y="0"/>
                  </a:moveTo>
                  <a:lnTo>
                    <a:pt x="838200" y="0"/>
                  </a:lnTo>
                  <a:lnTo>
                    <a:pt x="838200" y="666750"/>
                  </a:lnTo>
                  <a:lnTo>
                    <a:pt x="0" y="666750"/>
                  </a:lnTo>
                  <a:lnTo>
                    <a:pt x="0" y="0"/>
                  </a:lnTo>
                  <a:close/>
                </a:path>
              </a:pathLst>
            </a:custGeom>
            <a:blipFill>
              <a:blip r:embed="rId7"/>
              <a:stretch>
                <a:fillRect l="0" t="0" r="0" b="-2857"/>
              </a:stretch>
            </a:blipFill>
          </p:spPr>
        </p:sp>
      </p:grpSp>
      <p:grpSp>
        <p:nvGrpSpPr>
          <p:cNvPr name="Group 19" id="19"/>
          <p:cNvGrpSpPr/>
          <p:nvPr/>
        </p:nvGrpSpPr>
        <p:grpSpPr>
          <a:xfrm rot="0">
            <a:off x="12677927" y="4317282"/>
            <a:ext cx="500062" cy="500062"/>
            <a:chOff x="0" y="0"/>
            <a:chExt cx="666750" cy="666750"/>
          </a:xfrm>
        </p:grpSpPr>
        <p:sp>
          <p:nvSpPr>
            <p:cNvPr name="Freeform 20" id="20" descr="image.png"/>
            <p:cNvSpPr/>
            <p:nvPr/>
          </p:nvSpPr>
          <p:spPr>
            <a:xfrm flipH="false" flipV="false" rot="0">
              <a:off x="0" y="0"/>
              <a:ext cx="666750" cy="666750"/>
            </a:xfrm>
            <a:custGeom>
              <a:avLst/>
              <a:gdLst/>
              <a:ahLst/>
              <a:cxnLst/>
              <a:rect r="r" b="b" t="t" l="l"/>
              <a:pathLst>
                <a:path h="666750" w="666750">
                  <a:moveTo>
                    <a:pt x="0" y="0"/>
                  </a:moveTo>
                  <a:lnTo>
                    <a:pt x="666750" y="0"/>
                  </a:lnTo>
                  <a:lnTo>
                    <a:pt x="666750" y="666750"/>
                  </a:lnTo>
                  <a:lnTo>
                    <a:pt x="0" y="666750"/>
                  </a:lnTo>
                  <a:lnTo>
                    <a:pt x="0" y="0"/>
                  </a:lnTo>
                  <a:close/>
                </a:path>
              </a:pathLst>
            </a:custGeom>
            <a:blipFill>
              <a:blip r:embed="rId8"/>
              <a:stretch>
                <a:fillRect l="0" t="0" r="0" b="-2857"/>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1000" y="2393649"/>
            <a:ext cx="14573586" cy="6457606"/>
          </a:xfrm>
          <a:custGeom>
            <a:avLst/>
            <a:gdLst/>
            <a:ahLst/>
            <a:cxnLst/>
            <a:rect r="r" b="b" t="t" l="l"/>
            <a:pathLst>
              <a:path h="6457606" w="14573586">
                <a:moveTo>
                  <a:pt x="0" y="0"/>
                </a:moveTo>
                <a:lnTo>
                  <a:pt x="14573586" y="0"/>
                </a:lnTo>
                <a:lnTo>
                  <a:pt x="14573586" y="6457607"/>
                </a:lnTo>
                <a:lnTo>
                  <a:pt x="0" y="6457607"/>
                </a:lnTo>
                <a:lnTo>
                  <a:pt x="0" y="0"/>
                </a:lnTo>
                <a:close/>
              </a:path>
            </a:pathLst>
          </a:custGeom>
          <a:blipFill>
            <a:blip r:embed="rId3"/>
            <a:stretch>
              <a:fillRect l="0" t="0" r="0" b="0"/>
            </a:stretch>
          </a:blipFill>
        </p:spPr>
      </p:sp>
      <p:sp>
        <p:nvSpPr>
          <p:cNvPr name="TextBox 3" id="3"/>
          <p:cNvSpPr txBox="true"/>
          <p:nvPr/>
        </p:nvSpPr>
        <p:spPr>
          <a:xfrm rot="0">
            <a:off x="263341" y="381000"/>
            <a:ext cx="17848903"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Muli Bold"/>
                <a:ea typeface="Muli Bold"/>
                <a:cs typeface="Muli Bold"/>
                <a:sym typeface="Muli Bold"/>
              </a:rPr>
              <a:t>BASE MODEL BENCHMARKING</a:t>
            </a:r>
          </a:p>
        </p:txBody>
      </p:sp>
      <p:sp>
        <p:nvSpPr>
          <p:cNvPr name="TextBox 4" id="4"/>
          <p:cNvSpPr txBox="true"/>
          <p:nvPr/>
        </p:nvSpPr>
        <p:spPr>
          <a:xfrm rot="0">
            <a:off x="3573556" y="7431417"/>
            <a:ext cx="11544300" cy="554307"/>
          </a:xfrm>
          <a:prstGeom prst="rect">
            <a:avLst/>
          </a:prstGeom>
        </p:spPr>
        <p:txBody>
          <a:bodyPr anchor="t" rtlCol="false" tIns="0" lIns="0" bIns="0" rIns="0">
            <a:spAutoFit/>
          </a:bodyPr>
          <a:lstStyle/>
          <a:p>
            <a:pPr algn="ctr">
              <a:lnSpc>
                <a:spcPts val="3887"/>
              </a:lnSpc>
            </a:pPr>
            <a:r>
              <a:rPr lang="en-US" sz="2025" i="true">
                <a:solidFill>
                  <a:srgbClr val="64748B"/>
                </a:solidFill>
                <a:latin typeface="Inter Italics"/>
                <a:ea typeface="Inter Italics"/>
                <a:cs typeface="Inter Italics"/>
                <a:sym typeface="Inter Italics"/>
              </a:rPr>
              <a:t>Metric: Binary Log-Loss (Lower is better). Decision Tree models suffered significant overfitting.</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699680" y="-1470403"/>
            <a:ext cx="14026196" cy="11628992"/>
          </a:xfrm>
          <a:custGeom>
            <a:avLst/>
            <a:gdLst/>
            <a:ahLst/>
            <a:cxnLst/>
            <a:rect r="r" b="b" t="t" l="l"/>
            <a:pathLst>
              <a:path h="11628992" w="14026196">
                <a:moveTo>
                  <a:pt x="0" y="0"/>
                </a:moveTo>
                <a:lnTo>
                  <a:pt x="14026196" y="0"/>
                </a:lnTo>
                <a:lnTo>
                  <a:pt x="14026196" y="11628992"/>
                </a:lnTo>
                <a:lnTo>
                  <a:pt x="0" y="11628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40046" y="4034946"/>
            <a:ext cx="14207909" cy="2217107"/>
            <a:chOff x="0" y="0"/>
            <a:chExt cx="18943878" cy="2956143"/>
          </a:xfrm>
        </p:grpSpPr>
        <p:sp>
          <p:nvSpPr>
            <p:cNvPr name="TextBox 4" id="4"/>
            <p:cNvSpPr txBox="true"/>
            <p:nvPr/>
          </p:nvSpPr>
          <p:spPr>
            <a:xfrm rot="0">
              <a:off x="0" y="0"/>
              <a:ext cx="18943878" cy="1727200"/>
            </a:xfrm>
            <a:prstGeom prst="rect">
              <a:avLst/>
            </a:prstGeom>
          </p:spPr>
          <p:txBody>
            <a:bodyPr anchor="t" rtlCol="false" tIns="0" lIns="0" bIns="0" rIns="0">
              <a:spAutoFit/>
            </a:bodyPr>
            <a:lstStyle/>
            <a:p>
              <a:pPr algn="ctr" marL="0" indent="0" lvl="0">
                <a:lnSpc>
                  <a:spcPts val="10200"/>
                </a:lnSpc>
                <a:spcBef>
                  <a:spcPct val="0"/>
                </a:spcBef>
              </a:pPr>
              <a:r>
                <a:rPr lang="en-US" b="true" sz="8500">
                  <a:solidFill>
                    <a:srgbClr val="000000"/>
                  </a:solidFill>
                  <a:latin typeface="Muli Bold"/>
                  <a:ea typeface="Muli Bold"/>
                  <a:cs typeface="Muli Bold"/>
                  <a:sym typeface="Muli Bold"/>
                </a:rPr>
                <a:t>Evaluation and Conclusion</a:t>
              </a:r>
            </a:p>
          </p:txBody>
        </p:sp>
        <p:sp>
          <p:nvSpPr>
            <p:cNvPr name="TextBox 5" id="5"/>
            <p:cNvSpPr txBox="true"/>
            <p:nvPr/>
          </p:nvSpPr>
          <p:spPr>
            <a:xfrm rot="0">
              <a:off x="0" y="2317968"/>
              <a:ext cx="18943878" cy="638175"/>
            </a:xfrm>
            <a:prstGeom prst="rect">
              <a:avLst/>
            </a:prstGeom>
          </p:spPr>
          <p:txBody>
            <a:bodyPr anchor="t" rtlCol="false" tIns="0" lIns="0" bIns="0" rIns="0">
              <a:spAutoFit/>
            </a:bodyPr>
            <a:lstStyle/>
            <a:p>
              <a:pPr algn="ctr">
                <a:lnSpc>
                  <a:spcPts val="3900"/>
                </a:lnSpc>
              </a:pPr>
              <a:r>
                <a:rPr lang="en-US" sz="3000">
                  <a:solidFill>
                    <a:srgbClr val="000000"/>
                  </a:solidFill>
                  <a:latin typeface="Muli"/>
                  <a:ea typeface="Muli"/>
                  <a:cs typeface="Muli"/>
                  <a:sym typeface="Muli"/>
                </a:rPr>
                <a:t>Prediction Output, Conclusion and Future Work</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19822" y="2077855"/>
            <a:ext cx="12535942" cy="7020127"/>
          </a:xfrm>
          <a:custGeom>
            <a:avLst/>
            <a:gdLst/>
            <a:ahLst/>
            <a:cxnLst/>
            <a:rect r="r" b="b" t="t" l="l"/>
            <a:pathLst>
              <a:path h="7020127" w="12535942">
                <a:moveTo>
                  <a:pt x="0" y="0"/>
                </a:moveTo>
                <a:lnTo>
                  <a:pt x="12535942" y="0"/>
                </a:lnTo>
                <a:lnTo>
                  <a:pt x="12535942" y="7020127"/>
                </a:lnTo>
                <a:lnTo>
                  <a:pt x="0" y="7020127"/>
                </a:lnTo>
                <a:lnTo>
                  <a:pt x="0" y="0"/>
                </a:lnTo>
                <a:close/>
              </a:path>
            </a:pathLst>
          </a:custGeom>
          <a:blipFill>
            <a:blip r:embed="rId2"/>
            <a:stretch>
              <a:fillRect l="0" t="0" r="0" b="0"/>
            </a:stretch>
          </a:blipFill>
        </p:spPr>
      </p:sp>
      <p:sp>
        <p:nvSpPr>
          <p:cNvPr name="TextBox 3" id="3"/>
          <p:cNvSpPr txBox="true"/>
          <p:nvPr/>
        </p:nvSpPr>
        <p:spPr>
          <a:xfrm rot="0">
            <a:off x="263341" y="381000"/>
            <a:ext cx="17848903" cy="1295400"/>
          </a:xfrm>
          <a:prstGeom prst="rect">
            <a:avLst/>
          </a:prstGeom>
        </p:spPr>
        <p:txBody>
          <a:bodyPr anchor="t" rtlCol="false" tIns="0" lIns="0" bIns="0" rIns="0">
            <a:spAutoFit/>
          </a:bodyPr>
          <a:lstStyle/>
          <a:p>
            <a:pPr algn="l" marL="0" indent="0" lvl="0">
              <a:lnSpc>
                <a:spcPts val="10200"/>
              </a:lnSpc>
              <a:spcBef>
                <a:spcPct val="0"/>
              </a:spcBef>
            </a:pPr>
            <a:r>
              <a:rPr lang="en-US" b="true" sz="8500">
                <a:solidFill>
                  <a:srgbClr val="000000"/>
                </a:solidFill>
                <a:latin typeface="Muli Bold"/>
                <a:ea typeface="Muli Bold"/>
                <a:cs typeface="Muli Bold"/>
                <a:sym typeface="Muli Bold"/>
              </a:rPr>
              <a:t>RESULT SUBMISSION</a:t>
            </a:r>
          </a:p>
        </p:txBody>
      </p:sp>
      <p:sp>
        <p:nvSpPr>
          <p:cNvPr name="TextBox 4" id="4"/>
          <p:cNvSpPr txBox="true"/>
          <p:nvPr/>
        </p:nvSpPr>
        <p:spPr>
          <a:xfrm rot="0">
            <a:off x="901043" y="9364682"/>
            <a:ext cx="16573500" cy="476250"/>
          </a:xfrm>
          <a:prstGeom prst="rect">
            <a:avLst/>
          </a:prstGeom>
        </p:spPr>
        <p:txBody>
          <a:bodyPr anchor="t" rtlCol="false" tIns="0" lIns="0" bIns="0" rIns="0">
            <a:spAutoFit/>
          </a:bodyPr>
          <a:lstStyle/>
          <a:p>
            <a:pPr algn="ctr">
              <a:lnSpc>
                <a:spcPts val="4050"/>
              </a:lnSpc>
            </a:pPr>
            <a:r>
              <a:rPr lang="en-US" sz="2250">
                <a:solidFill>
                  <a:srgbClr val="000000"/>
                </a:solidFill>
                <a:latin typeface="Inter"/>
                <a:ea typeface="Inter"/>
                <a:cs typeface="Inter"/>
                <a:sym typeface="Inter"/>
              </a:rPr>
              <a:t>Have a score of 0.27586 (closer to 0 is better), we ranked ~300 in public leaderboard</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93371" y="2383008"/>
            <a:ext cx="11301259" cy="6215692"/>
          </a:xfrm>
          <a:custGeom>
            <a:avLst/>
            <a:gdLst/>
            <a:ahLst/>
            <a:cxnLst/>
            <a:rect r="r" b="b" t="t" l="l"/>
            <a:pathLst>
              <a:path h="6215692" w="11301259">
                <a:moveTo>
                  <a:pt x="0" y="0"/>
                </a:moveTo>
                <a:lnTo>
                  <a:pt x="11301258" y="0"/>
                </a:lnTo>
                <a:lnTo>
                  <a:pt x="11301258" y="6215693"/>
                </a:lnTo>
                <a:lnTo>
                  <a:pt x="0" y="6215693"/>
                </a:lnTo>
                <a:lnTo>
                  <a:pt x="0" y="0"/>
                </a:lnTo>
                <a:close/>
              </a:path>
            </a:pathLst>
          </a:custGeom>
          <a:blipFill>
            <a:blip r:embed="rId2"/>
            <a:stretch>
              <a:fillRect l="0" t="0" r="0" b="0"/>
            </a:stretch>
          </a:blipFill>
        </p:spPr>
      </p:sp>
      <p:sp>
        <p:nvSpPr>
          <p:cNvPr name="TextBox 3" id="3"/>
          <p:cNvSpPr txBox="true"/>
          <p:nvPr/>
        </p:nvSpPr>
        <p:spPr>
          <a:xfrm rot="0">
            <a:off x="0" y="381000"/>
            <a:ext cx="17848903"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Muli Bold"/>
                <a:ea typeface="Muli Bold"/>
                <a:cs typeface="Muli Bold"/>
                <a:sym typeface="Muli Bold"/>
              </a:rPr>
              <a:t>BINARY LOG LOSS CURVE</a:t>
            </a: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3341" y="381000"/>
            <a:ext cx="17848903" cy="1295400"/>
          </a:xfrm>
          <a:prstGeom prst="rect">
            <a:avLst/>
          </a:prstGeom>
        </p:spPr>
        <p:txBody>
          <a:bodyPr anchor="t" rtlCol="false" tIns="0" lIns="0" bIns="0" rIns="0">
            <a:spAutoFit/>
          </a:bodyPr>
          <a:lstStyle/>
          <a:p>
            <a:pPr algn="l" marL="0" indent="0" lvl="0">
              <a:lnSpc>
                <a:spcPts val="10200"/>
              </a:lnSpc>
              <a:spcBef>
                <a:spcPct val="0"/>
              </a:spcBef>
            </a:pPr>
            <a:r>
              <a:rPr lang="en-US" b="true" sz="8500">
                <a:solidFill>
                  <a:srgbClr val="000000"/>
                </a:solidFill>
                <a:latin typeface="Muli Bold"/>
                <a:ea typeface="Muli Bold"/>
                <a:cs typeface="Muli Bold"/>
                <a:sym typeface="Muli Bold"/>
              </a:rPr>
              <a:t>CONCLUSION &amp; FUTURE WORK</a:t>
            </a:r>
          </a:p>
        </p:txBody>
      </p:sp>
      <p:sp>
        <p:nvSpPr>
          <p:cNvPr name="TextBox 3" id="3"/>
          <p:cNvSpPr txBox="true"/>
          <p:nvPr/>
        </p:nvSpPr>
        <p:spPr>
          <a:xfrm rot="0">
            <a:off x="451262" y="2266950"/>
            <a:ext cx="17470123" cy="3048000"/>
          </a:xfrm>
          <a:prstGeom prst="rect">
            <a:avLst/>
          </a:prstGeom>
        </p:spPr>
        <p:txBody>
          <a:bodyPr anchor="t" rtlCol="false" tIns="0" lIns="0" bIns="0" rIns="0">
            <a:spAutoFit/>
          </a:bodyPr>
          <a:lstStyle/>
          <a:p>
            <a:pPr algn="l">
              <a:lnSpc>
                <a:spcPts val="4050"/>
              </a:lnSpc>
            </a:pPr>
            <a:r>
              <a:rPr lang="en-US" sz="2250">
                <a:solidFill>
                  <a:srgbClr val="000000"/>
                </a:solidFill>
                <a:latin typeface="Inter"/>
                <a:ea typeface="Inter"/>
                <a:cs typeface="Inter"/>
                <a:sym typeface="Inter"/>
              </a:rPr>
              <a:t>T</a:t>
            </a:r>
            <a:r>
              <a:rPr lang="en-US" sz="2250">
                <a:solidFill>
                  <a:srgbClr val="000000"/>
                </a:solidFill>
                <a:latin typeface="Inter"/>
                <a:ea typeface="Inter"/>
                <a:cs typeface="Inter"/>
                <a:sym typeface="Inter"/>
              </a:rPr>
              <a:t>his project builds a churn prediction system for KKBOX using time-aware feature engineering and gradient boosting (LightGBM).</a:t>
            </a:r>
          </a:p>
          <a:p>
            <a:pPr algn="l">
              <a:lnSpc>
                <a:spcPts val="4050"/>
              </a:lnSpc>
            </a:pPr>
            <a:r>
              <a:rPr lang="en-US" sz="2250">
                <a:solidFill>
                  <a:srgbClr val="000000"/>
                </a:solidFill>
                <a:latin typeface="Inter"/>
                <a:ea typeface="Inter"/>
                <a:cs typeface="Inter"/>
                <a:sym typeface="Inter"/>
              </a:rPr>
              <a:t>The model captures meaningful churn patterns from user transactions, listening behavior, and member profile signals, and achieves strong log-loss performance on leaderboard evaluation.</a:t>
            </a:r>
          </a:p>
          <a:p>
            <a:pPr algn="l">
              <a:lnSpc>
                <a:spcPts val="4050"/>
              </a:lnSpc>
            </a:pPr>
            <a:r>
              <a:rPr lang="en-US" sz="2250">
                <a:solidFill>
                  <a:srgbClr val="000000"/>
                </a:solidFill>
                <a:latin typeface="Inter"/>
                <a:ea typeface="Inter"/>
                <a:cs typeface="Inter"/>
                <a:sym typeface="Inter"/>
              </a:rPr>
              <a:t>The key outcome is that churn can be predicted early enough to support proactive retention actions.</a:t>
            </a:r>
          </a:p>
          <a:p>
            <a:pPr algn="l">
              <a:lnSpc>
                <a:spcPts val="4050"/>
              </a:lnSpc>
            </a:pPr>
            <a:r>
              <a:rPr lang="en-US" sz="2250">
                <a:solidFill>
                  <a:srgbClr val="000000"/>
                </a:solidFill>
                <a:latin typeface="Inter"/>
                <a:ea typeface="Inter"/>
                <a:cs typeface="Inter"/>
                <a:sym typeface="Inter"/>
              </a:rPr>
              <a:t>From a business perspective, these predictions can help prioritize at-risk users, design targeted interventions, and improve subscription renewal rates.</a:t>
            </a:r>
          </a:p>
        </p:txBody>
      </p:sp>
      <p:sp>
        <p:nvSpPr>
          <p:cNvPr name="TextBox 4" id="4"/>
          <p:cNvSpPr txBox="true"/>
          <p:nvPr/>
        </p:nvSpPr>
        <p:spPr>
          <a:xfrm rot="0">
            <a:off x="452731" y="5629621"/>
            <a:ext cx="17470123" cy="476250"/>
          </a:xfrm>
          <a:prstGeom prst="rect">
            <a:avLst/>
          </a:prstGeom>
        </p:spPr>
        <p:txBody>
          <a:bodyPr anchor="t" rtlCol="false" tIns="0" lIns="0" bIns="0" rIns="0">
            <a:spAutoFit/>
          </a:bodyPr>
          <a:lstStyle/>
          <a:p>
            <a:pPr algn="l">
              <a:lnSpc>
                <a:spcPts val="4050"/>
              </a:lnSpc>
            </a:pPr>
            <a:r>
              <a:rPr lang="en-US" b="true" sz="2250">
                <a:solidFill>
                  <a:srgbClr val="000000"/>
                </a:solidFill>
                <a:latin typeface="Inter Bold"/>
                <a:ea typeface="Inter Bold"/>
                <a:cs typeface="Inter Bold"/>
                <a:sym typeface="Inter Bold"/>
              </a:rPr>
              <a:t>Future work includes</a:t>
            </a:r>
          </a:p>
        </p:txBody>
      </p:sp>
      <p:sp>
        <p:nvSpPr>
          <p:cNvPr name="TextBox 5" id="5"/>
          <p:cNvSpPr txBox="true"/>
          <p:nvPr/>
        </p:nvSpPr>
        <p:spPr>
          <a:xfrm rot="0">
            <a:off x="713314" y="6353521"/>
            <a:ext cx="320286" cy="352425"/>
          </a:xfrm>
          <a:prstGeom prst="rect">
            <a:avLst/>
          </a:prstGeom>
        </p:spPr>
        <p:txBody>
          <a:bodyPr anchor="t" rtlCol="false" tIns="0" lIns="0" bIns="0" rIns="0">
            <a:spAutoFit/>
          </a:bodyPr>
          <a:lstStyle/>
          <a:p>
            <a:pPr algn="l">
              <a:lnSpc>
                <a:spcPts val="2700"/>
              </a:lnSpc>
            </a:pPr>
            <a:r>
              <a:rPr lang="en-US" sz="2250">
                <a:solidFill>
                  <a:srgbClr val="94A3B8"/>
                </a:solidFill>
                <a:latin typeface="Inter"/>
                <a:ea typeface="Inter"/>
                <a:cs typeface="Inter"/>
                <a:sym typeface="Inter"/>
              </a:rPr>
              <a:t>•</a:t>
            </a:r>
          </a:p>
        </p:txBody>
      </p:sp>
      <p:sp>
        <p:nvSpPr>
          <p:cNvPr name="TextBox 6" id="6"/>
          <p:cNvSpPr txBox="true"/>
          <p:nvPr/>
        </p:nvSpPr>
        <p:spPr>
          <a:xfrm rot="0">
            <a:off x="1247123" y="6229696"/>
            <a:ext cx="16674262" cy="476250"/>
          </a:xfrm>
          <a:prstGeom prst="rect">
            <a:avLst/>
          </a:prstGeom>
        </p:spPr>
        <p:txBody>
          <a:bodyPr anchor="t" rtlCol="false" tIns="0" lIns="0" bIns="0" rIns="0">
            <a:spAutoFit/>
          </a:bodyPr>
          <a:lstStyle/>
          <a:p>
            <a:pPr algn="l">
              <a:lnSpc>
                <a:spcPts val="4050"/>
              </a:lnSpc>
            </a:pPr>
            <a:r>
              <a:rPr lang="en-US" b="true" sz="2250">
                <a:solidFill>
                  <a:srgbClr val="000000"/>
                </a:solidFill>
                <a:latin typeface="Inter Bold"/>
                <a:ea typeface="Inter Bold"/>
                <a:cs typeface="Inter Bold"/>
                <a:sym typeface="Inter Bold"/>
              </a:rPr>
              <a:t>R</a:t>
            </a:r>
            <a:r>
              <a:rPr lang="en-US" b="true" sz="2250">
                <a:solidFill>
                  <a:srgbClr val="000000"/>
                </a:solidFill>
                <a:latin typeface="Inter Bold"/>
                <a:ea typeface="Inter Bold"/>
                <a:cs typeface="Inter Bold"/>
                <a:sym typeface="Inter Bold"/>
              </a:rPr>
              <a:t>icher temporal features: </a:t>
            </a:r>
            <a:r>
              <a:rPr lang="en-US" sz="2250">
                <a:solidFill>
                  <a:srgbClr val="000000"/>
                </a:solidFill>
                <a:latin typeface="Inter"/>
                <a:ea typeface="Inter"/>
                <a:cs typeface="Inter"/>
                <a:sym typeface="Inter"/>
              </a:rPr>
              <a:t>add trend/velocity features (e.g., recent drop in listening activity, payment behavior changes).</a:t>
            </a:r>
          </a:p>
        </p:txBody>
      </p:sp>
      <p:sp>
        <p:nvSpPr>
          <p:cNvPr name="TextBox 7" id="7"/>
          <p:cNvSpPr txBox="true"/>
          <p:nvPr/>
        </p:nvSpPr>
        <p:spPr>
          <a:xfrm rot="0">
            <a:off x="713314" y="6953596"/>
            <a:ext cx="320286" cy="352425"/>
          </a:xfrm>
          <a:prstGeom prst="rect">
            <a:avLst/>
          </a:prstGeom>
        </p:spPr>
        <p:txBody>
          <a:bodyPr anchor="t" rtlCol="false" tIns="0" lIns="0" bIns="0" rIns="0">
            <a:spAutoFit/>
          </a:bodyPr>
          <a:lstStyle/>
          <a:p>
            <a:pPr algn="l">
              <a:lnSpc>
                <a:spcPts val="2700"/>
              </a:lnSpc>
            </a:pPr>
            <a:r>
              <a:rPr lang="en-US" sz="2250">
                <a:solidFill>
                  <a:srgbClr val="94A3B8"/>
                </a:solidFill>
                <a:latin typeface="Inter"/>
                <a:ea typeface="Inter"/>
                <a:cs typeface="Inter"/>
                <a:sym typeface="Inter"/>
              </a:rPr>
              <a:t>•</a:t>
            </a:r>
          </a:p>
        </p:txBody>
      </p:sp>
      <p:sp>
        <p:nvSpPr>
          <p:cNvPr name="TextBox 8" id="8"/>
          <p:cNvSpPr txBox="true"/>
          <p:nvPr/>
        </p:nvSpPr>
        <p:spPr>
          <a:xfrm rot="0">
            <a:off x="1247123" y="6829771"/>
            <a:ext cx="16674262" cy="990600"/>
          </a:xfrm>
          <a:prstGeom prst="rect">
            <a:avLst/>
          </a:prstGeom>
        </p:spPr>
        <p:txBody>
          <a:bodyPr anchor="t" rtlCol="false" tIns="0" lIns="0" bIns="0" rIns="0">
            <a:spAutoFit/>
          </a:bodyPr>
          <a:lstStyle/>
          <a:p>
            <a:pPr algn="l">
              <a:lnSpc>
                <a:spcPts val="4050"/>
              </a:lnSpc>
            </a:pPr>
            <a:r>
              <a:rPr lang="en-US" b="true" sz="2250">
                <a:solidFill>
                  <a:srgbClr val="000000"/>
                </a:solidFill>
                <a:latin typeface="Inter Bold"/>
                <a:ea typeface="Inter Bold"/>
                <a:cs typeface="Inter Bold"/>
                <a:sym typeface="Inter Bold"/>
              </a:rPr>
              <a:t>Mod</a:t>
            </a:r>
            <a:r>
              <a:rPr lang="en-US" b="true" sz="2250">
                <a:solidFill>
                  <a:srgbClr val="000000"/>
                </a:solidFill>
                <a:latin typeface="Inter Bold"/>
                <a:ea typeface="Inter Bold"/>
                <a:cs typeface="Inter Bold"/>
                <a:sym typeface="Inter Bold"/>
              </a:rPr>
              <a:t>el explainability: </a:t>
            </a:r>
            <a:r>
              <a:rPr lang="en-US" sz="2250">
                <a:solidFill>
                  <a:srgbClr val="000000"/>
                </a:solidFill>
                <a:latin typeface="Inter"/>
                <a:ea typeface="Inter"/>
                <a:cs typeface="Inter"/>
                <a:sym typeface="Inter"/>
              </a:rPr>
              <a:t>integrate SHAP/global-local explanations to make predictions easier for business teams to trust and act on.</a:t>
            </a:r>
          </a:p>
        </p:txBody>
      </p:sp>
      <p:sp>
        <p:nvSpPr>
          <p:cNvPr name="TextBox 9" id="9"/>
          <p:cNvSpPr txBox="true"/>
          <p:nvPr/>
        </p:nvSpPr>
        <p:spPr>
          <a:xfrm rot="0">
            <a:off x="713314" y="8039446"/>
            <a:ext cx="320286" cy="352425"/>
          </a:xfrm>
          <a:prstGeom prst="rect">
            <a:avLst/>
          </a:prstGeom>
        </p:spPr>
        <p:txBody>
          <a:bodyPr anchor="t" rtlCol="false" tIns="0" lIns="0" bIns="0" rIns="0">
            <a:spAutoFit/>
          </a:bodyPr>
          <a:lstStyle/>
          <a:p>
            <a:pPr algn="l">
              <a:lnSpc>
                <a:spcPts val="2700"/>
              </a:lnSpc>
            </a:pPr>
            <a:r>
              <a:rPr lang="en-US" sz="2250">
                <a:solidFill>
                  <a:srgbClr val="94A3B8"/>
                </a:solidFill>
                <a:latin typeface="Inter"/>
                <a:ea typeface="Inter"/>
                <a:cs typeface="Inter"/>
                <a:sym typeface="Inter"/>
              </a:rPr>
              <a:t>•</a:t>
            </a:r>
          </a:p>
        </p:txBody>
      </p:sp>
      <p:sp>
        <p:nvSpPr>
          <p:cNvPr name="TextBox 10" id="10"/>
          <p:cNvSpPr txBox="true"/>
          <p:nvPr/>
        </p:nvSpPr>
        <p:spPr>
          <a:xfrm rot="0">
            <a:off x="1247123" y="7915621"/>
            <a:ext cx="16674262" cy="990600"/>
          </a:xfrm>
          <a:prstGeom prst="rect">
            <a:avLst/>
          </a:prstGeom>
        </p:spPr>
        <p:txBody>
          <a:bodyPr anchor="t" rtlCol="false" tIns="0" lIns="0" bIns="0" rIns="0">
            <a:spAutoFit/>
          </a:bodyPr>
          <a:lstStyle/>
          <a:p>
            <a:pPr algn="l">
              <a:lnSpc>
                <a:spcPts val="4050"/>
              </a:lnSpc>
            </a:pPr>
            <a:r>
              <a:rPr lang="en-US" b="true" sz="2250">
                <a:solidFill>
                  <a:srgbClr val="000000"/>
                </a:solidFill>
                <a:latin typeface="Inter Bold"/>
                <a:ea typeface="Inter Bold"/>
                <a:cs typeface="Inter Bold"/>
                <a:sym typeface="Inter Bold"/>
              </a:rPr>
              <a:t>Further improve model performance: </a:t>
            </a:r>
            <a:r>
              <a:rPr lang="en-US" sz="2250">
                <a:solidFill>
                  <a:srgbClr val="000000"/>
                </a:solidFill>
                <a:latin typeface="Inter"/>
                <a:ea typeface="Inter"/>
                <a:cs typeface="Inter"/>
                <a:sym typeface="Inter"/>
              </a:rPr>
              <a:t>using asemble models including XGBoost, LightGBM, stacking with StackNet; further hyperparameter optimization</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2225" y="5493412"/>
            <a:ext cx="21239322" cy="4893203"/>
          </a:xfrm>
          <a:custGeom>
            <a:avLst/>
            <a:gdLst/>
            <a:ahLst/>
            <a:cxnLst/>
            <a:rect r="r" b="b" t="t" l="l"/>
            <a:pathLst>
              <a:path h="4893203" w="21239322">
                <a:moveTo>
                  <a:pt x="0" y="0"/>
                </a:moveTo>
                <a:lnTo>
                  <a:pt x="21239322" y="0"/>
                </a:lnTo>
                <a:lnTo>
                  <a:pt x="21239322" y="4893203"/>
                </a:lnTo>
                <a:lnTo>
                  <a:pt x="0" y="4893203"/>
                </a:lnTo>
                <a:lnTo>
                  <a:pt x="0" y="0"/>
                </a:lnTo>
                <a:close/>
              </a:path>
            </a:pathLst>
          </a:custGeom>
          <a:blipFill>
            <a:blip r:embed="rId2">
              <a:extLst>
                <a:ext uri="{96DAC541-7B7A-43D3-8B79-37D633B846F1}">
                  <asvg:svgBlip xmlns:asvg="http://schemas.microsoft.com/office/drawing/2016/SVG/main" r:embed="rId3"/>
                </a:ext>
              </a:extLst>
            </a:blip>
            <a:stretch>
              <a:fillRect l="0" t="0" r="0" b="-217256"/>
            </a:stretch>
          </a:blipFill>
        </p:spPr>
      </p:sp>
      <p:sp>
        <p:nvSpPr>
          <p:cNvPr name="TextBox 3" id="3"/>
          <p:cNvSpPr txBox="true"/>
          <p:nvPr/>
        </p:nvSpPr>
        <p:spPr>
          <a:xfrm rot="0">
            <a:off x="1028700" y="2372265"/>
            <a:ext cx="16230600" cy="715601"/>
          </a:xfrm>
          <a:prstGeom prst="rect">
            <a:avLst/>
          </a:prstGeom>
        </p:spPr>
        <p:txBody>
          <a:bodyPr anchor="t" rtlCol="false" tIns="0" lIns="0" bIns="0" rIns="0">
            <a:spAutoFit/>
          </a:bodyPr>
          <a:lstStyle/>
          <a:p>
            <a:pPr algn="l" marL="424852" indent="-212426" lvl="1">
              <a:lnSpc>
                <a:spcPts val="2951"/>
              </a:lnSpc>
              <a:buFont typeface="Arial"/>
              <a:buChar char="•"/>
            </a:pPr>
            <a:r>
              <a:rPr lang="en-US" sz="1967">
                <a:solidFill>
                  <a:srgbClr val="000000"/>
                </a:solidFill>
                <a:latin typeface="Clear Sans"/>
                <a:ea typeface="Clear Sans"/>
                <a:cs typeface="Clear Sans"/>
                <a:sym typeface="Clear Sans"/>
              </a:rPr>
              <a:t>https://github.com/uskcse/Top-2-Percentage-in-WSDM---KKBox-s-Churn-Prediction-Challenge/blob/master/Complete%20Solution.ipynb</a:t>
            </a:r>
          </a:p>
          <a:p>
            <a:pPr algn="l" marL="424852" indent="-212426" lvl="1">
              <a:lnSpc>
                <a:spcPts val="2951"/>
              </a:lnSpc>
              <a:buFont typeface="Arial"/>
              <a:buChar char="•"/>
            </a:pPr>
            <a:r>
              <a:rPr lang="en-US" sz="1967">
                <a:solidFill>
                  <a:srgbClr val="000000"/>
                </a:solidFill>
                <a:latin typeface="Clear Sans"/>
                <a:ea typeface="Clear Sans"/>
                <a:cs typeface="Clear Sans"/>
                <a:sym typeface="Clear Sans"/>
              </a:rPr>
              <a:t>https://wsdm-cup-2018.kkbox.events/pdf/7_A_Practical_Pipeline_with_Stacking_Models_for_KKBOXs_Churn_Prediction_Challenge.pdf</a:t>
            </a:r>
          </a:p>
        </p:txBody>
      </p:sp>
      <p:sp>
        <p:nvSpPr>
          <p:cNvPr name="TextBox 4" id="4"/>
          <p:cNvSpPr txBox="true"/>
          <p:nvPr/>
        </p:nvSpPr>
        <p:spPr>
          <a:xfrm rot="0">
            <a:off x="4239787" y="546351"/>
            <a:ext cx="13019513"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Muli Bold"/>
                <a:ea typeface="Muli Bold"/>
                <a:cs typeface="Muli Bold"/>
                <a:sym typeface="Muli Bold"/>
              </a:rPr>
              <a:t>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DAHG6fJKmII</dc:identifier>
  <dcterms:modified xsi:type="dcterms:W3CDTF">2011-08-01T06:04:30Z</dcterms:modified>
  <cp:revision>1</cp:revision>
  <dc:title>WSDM KKBOX's Churn Prediction Challenge ppt</dc:title>
</cp:coreProperties>
</file>